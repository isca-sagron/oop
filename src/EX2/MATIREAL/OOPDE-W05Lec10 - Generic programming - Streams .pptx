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4" r:id="rId1"/>
  </p:sldMasterIdLst>
  <p:notesMasterIdLst>
    <p:notesMasterId r:id="rId42"/>
  </p:notesMasterIdLst>
  <p:handoutMasterIdLst>
    <p:handoutMasterId r:id="rId43"/>
  </p:handoutMasterIdLst>
  <p:sldIdLst>
    <p:sldId id="256" r:id="rId2"/>
    <p:sldId id="280" r:id="rId3"/>
    <p:sldId id="463" r:id="rId4"/>
    <p:sldId id="464" r:id="rId5"/>
    <p:sldId id="466" r:id="rId6"/>
    <p:sldId id="465" r:id="rId7"/>
    <p:sldId id="456" r:id="rId8"/>
    <p:sldId id="468" r:id="rId9"/>
    <p:sldId id="472" r:id="rId10"/>
    <p:sldId id="469" r:id="rId11"/>
    <p:sldId id="470" r:id="rId12"/>
    <p:sldId id="542" r:id="rId13"/>
    <p:sldId id="543" r:id="rId14"/>
    <p:sldId id="544" r:id="rId15"/>
    <p:sldId id="545" r:id="rId16"/>
    <p:sldId id="546" r:id="rId17"/>
    <p:sldId id="467" r:id="rId18"/>
    <p:sldId id="460" r:id="rId19"/>
    <p:sldId id="540" r:id="rId20"/>
    <p:sldId id="461" r:id="rId21"/>
    <p:sldId id="541" r:id="rId22"/>
    <p:sldId id="462" r:id="rId23"/>
    <p:sldId id="453" r:id="rId24"/>
    <p:sldId id="475" r:id="rId25"/>
    <p:sldId id="476" r:id="rId26"/>
    <p:sldId id="477" r:id="rId27"/>
    <p:sldId id="478" r:id="rId28"/>
    <p:sldId id="479" r:id="rId29"/>
    <p:sldId id="471" r:id="rId30"/>
    <p:sldId id="473" r:id="rId31"/>
    <p:sldId id="474" r:id="rId32"/>
    <p:sldId id="536" r:id="rId33"/>
    <p:sldId id="455" r:id="rId34"/>
    <p:sldId id="457" r:id="rId35"/>
    <p:sldId id="458" r:id="rId36"/>
    <p:sldId id="538" r:id="rId37"/>
    <p:sldId id="454" r:id="rId38"/>
    <p:sldId id="537" r:id="rId39"/>
    <p:sldId id="539" r:id="rId40"/>
    <p:sldId id="459" r:id="rId41"/>
  </p:sldIdLst>
  <p:sldSz cx="9144000" cy="6858000" type="screen4x3"/>
  <p:notesSz cx="9874250" cy="6797675"/>
  <p:embeddedFontLst>
    <p:embeddedFont>
      <p:font typeface="Bookman Old Style" panose="02050604050505020204" pitchFamily="18" charset="0"/>
      <p:regular r:id="rId44"/>
      <p:bold r:id="rId45"/>
      <p:italic r:id="rId46"/>
      <p:boldItalic r:id="rId47"/>
    </p:embeddedFont>
    <p:embeddedFont>
      <p:font typeface="Cambria Math" panose="02040503050406030204" pitchFamily="18" charset="0"/>
      <p:regular r:id="rId48"/>
    </p:embeddedFont>
    <p:embeddedFont>
      <p:font typeface="Consolas" panose="020B0609020204030204" pitchFamily="49" charset="0"/>
      <p:regular r:id="rId49"/>
      <p:bold r:id="rId50"/>
      <p:italic r:id="rId51"/>
      <p:boldItalic r:id="rId52"/>
    </p:embeddedFont>
    <p:embeddedFont>
      <p:font typeface="David" panose="020E0502060401010101" pitchFamily="34" charset="-79"/>
      <p:regular r:id="rId53"/>
      <p:bold r:id="rId54"/>
    </p:embeddedFont>
    <p:embeddedFont>
      <p:font typeface="Gill Sans MT" panose="020B0502020104020203" pitchFamily="34" charset="0"/>
      <p:regular r:id="rId55"/>
      <p:bold r:id="rId56"/>
      <p:italic r:id="rId57"/>
      <p:boldItalic r:id="rId58"/>
    </p:embeddedFont>
    <p:embeddedFont>
      <p:font typeface="Tahoma" panose="020B0604030504040204" pitchFamily="34" charset="0"/>
      <p:regular r:id="rId59"/>
      <p:bold r:id="rId60"/>
    </p:embeddedFont>
    <p:embeddedFont>
      <p:font typeface="Wingdings 3" panose="05040102010807070707" pitchFamily="18" charset="2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E501FDA5-0AE5-4D64-A564-C48335F4AF83}">
          <p14:sldIdLst>
            <p14:sldId id="256"/>
            <p14:sldId id="280"/>
            <p14:sldId id="463"/>
            <p14:sldId id="464"/>
            <p14:sldId id="466"/>
            <p14:sldId id="465"/>
            <p14:sldId id="456"/>
            <p14:sldId id="468"/>
            <p14:sldId id="472"/>
            <p14:sldId id="469"/>
            <p14:sldId id="470"/>
            <p14:sldId id="542"/>
            <p14:sldId id="543"/>
            <p14:sldId id="544"/>
            <p14:sldId id="545"/>
            <p14:sldId id="546"/>
            <p14:sldId id="467"/>
            <p14:sldId id="460"/>
            <p14:sldId id="540"/>
            <p14:sldId id="461"/>
            <p14:sldId id="541"/>
            <p14:sldId id="462"/>
            <p14:sldId id="453"/>
            <p14:sldId id="475"/>
            <p14:sldId id="476"/>
            <p14:sldId id="477"/>
            <p14:sldId id="478"/>
            <p14:sldId id="479"/>
            <p14:sldId id="471"/>
            <p14:sldId id="473"/>
            <p14:sldId id="474"/>
            <p14:sldId id="536"/>
            <p14:sldId id="455"/>
            <p14:sldId id="457"/>
            <p14:sldId id="458"/>
            <p14:sldId id="538"/>
            <p14:sldId id="454"/>
            <p14:sldId id="537"/>
            <p14:sldId id="539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ACF8"/>
    <a:srgbClr val="009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סגנון ביניים 4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סגנון ביניים 1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סגנון ביניים 1 - הדגשה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11" autoAdjust="0"/>
    <p:restoredTop sz="94660"/>
  </p:normalViewPr>
  <p:slideViewPr>
    <p:cSldViewPr>
      <p:cViewPr varScale="1">
        <p:scale>
          <a:sx n="101" d="100"/>
          <a:sy n="101" d="100"/>
        </p:scale>
        <p:origin x="20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font" Target="fonts/font1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font" Target="fonts/font17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1"/>
            <a:fld id="{BA8D2C58-42A2-402F-BDCD-0D925AF2D68E}" type="datetimeFigureOut">
              <a:rPr lang="he-IL" smtClean="0"/>
              <a:t>ב'/אייר/תשפ"ו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1"/>
            <a:fld id="{5A44D7B4-3238-43CF-9FA2-EF2A1D4B14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6571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1"/>
            <a:fld id="{02745EC6-2FF1-4F70-90CF-9B50D340DB85}" type="datetimeFigureOut">
              <a:rPr lang="en-US" smtClean="0"/>
              <a:t>4/19/2026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1"/>
            <a:fld id="{316969AA-9439-471E-9578-E8A340D4EAE1}" type="slidenum">
              <a:rPr lang="en-US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785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i="0" dirty="0">
                <a:solidFill>
                  <a:srgbClr val="BDC1C6"/>
                </a:solidFill>
                <a:effectLst/>
                <a:latin typeface="Tahoma" panose="020B0604030504040204" pitchFamily="34" charset="0"/>
              </a:rPr>
              <a:t>על פי 'המדריך לטרמפיסט לגלקסיה</a:t>
            </a:r>
            <a:r>
              <a:rPr lang="he-IL" b="0" i="0">
                <a:solidFill>
                  <a:srgbClr val="BDC1C6"/>
                </a:solidFill>
                <a:effectLst/>
                <a:latin typeface="Tahoma" panose="020B0604030504040204" pitchFamily="34" charset="0"/>
              </a:rPr>
              <a:t>', "42 </a:t>
            </a:r>
            <a:r>
              <a:rPr lang="he-IL" b="0" i="0" dirty="0">
                <a:solidFill>
                  <a:srgbClr val="BDC1C6"/>
                </a:solidFill>
                <a:effectLst/>
                <a:latin typeface="Tahoma" panose="020B0604030504040204" pitchFamily="34" charset="0"/>
              </a:rPr>
              <a:t>היא התשובה </a:t>
            </a:r>
            <a:r>
              <a:rPr lang="he-IL" b="0" i="0">
                <a:solidFill>
                  <a:srgbClr val="BDC1C6"/>
                </a:solidFill>
                <a:effectLst/>
                <a:latin typeface="Tahoma" panose="020B0604030504040204" pitchFamily="34" charset="0"/>
              </a:rPr>
              <a:t>לשאלת החיים</a:t>
            </a:r>
            <a:r>
              <a:rPr lang="he-IL" b="0" i="0" dirty="0">
                <a:solidFill>
                  <a:srgbClr val="BDC1C6"/>
                </a:solidFill>
                <a:effectLst/>
                <a:latin typeface="Tahoma" panose="020B0604030504040204" pitchFamily="34" charset="0"/>
              </a:rPr>
              <a:t>, היקום וכל </a:t>
            </a:r>
            <a:r>
              <a:rPr lang="he-IL" b="0" i="0">
                <a:solidFill>
                  <a:srgbClr val="BDC1C6"/>
                </a:solidFill>
                <a:effectLst/>
                <a:latin typeface="Tahoma" panose="020B0604030504040204" pitchFamily="34" charset="0"/>
              </a:rPr>
              <a:t>השאר..."</a:t>
            </a:r>
            <a:endParaRPr lang="LID4096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1"/>
            <a:fld id="{316969AA-9439-471E-9578-E8A340D4EAE1}" type="slidenum">
              <a:rPr lang="en-US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28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dirty="0">
                <a:latin typeface="Consolas" panose="020B0609020204030204" pitchFamily="49" charset="0"/>
              </a:rPr>
              <a:t>הפונקציה </a:t>
            </a:r>
            <a:r>
              <a:rPr lang="en-US" sz="1200" dirty="0" err="1">
                <a:latin typeface="Consolas" panose="020B0609020204030204" pitchFamily="49" charset="0"/>
              </a:rPr>
              <a:t>removeIf</a:t>
            </a:r>
            <a:r>
              <a:rPr lang="he-IL" sz="1200" dirty="0">
                <a:latin typeface="Consolas" panose="020B0609020204030204" pitchFamily="49" charset="0"/>
              </a:rPr>
              <a:t> מוציאה מהאוסף את כל האלמנטים שעבורם הפרדיקט מחזיר </a:t>
            </a:r>
            <a:r>
              <a:rPr lang="en-US" sz="1200" dirty="0">
                <a:latin typeface="Consolas" panose="020B0609020204030204" pitchFamily="49" charset="0"/>
              </a:rPr>
              <a:t>true</a:t>
            </a:r>
            <a:r>
              <a:rPr lang="he-IL" sz="1200" dirty="0">
                <a:latin typeface="Consolas" panose="020B0609020204030204" pitchFamily="49" charset="0"/>
              </a:rPr>
              <a:t> . </a:t>
            </a:r>
            <a:r>
              <a:rPr lang="en-US" sz="1200" dirty="0">
                <a:latin typeface="Consolas" panose="020B0609020204030204" pitchFamily="49" charset="0"/>
              </a:rPr>
              <a:t>	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1"/>
            <a:fld id="{316969AA-9439-471E-9578-E8A340D4EAE1}" type="slidenum">
              <a:rPr lang="en-US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8306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 err="1">
                <a:solidFill>
                  <a:srgbClr val="495057"/>
                </a:solidFill>
                <a:effectLst/>
                <a:latin typeface="Tahoma" panose="020B0604030504040204" pitchFamily="34" charset="0"/>
              </a:rPr>
              <a:t>computeIfAbsent</a:t>
            </a:r>
            <a:r>
              <a:rPr lang="en-US" b="0" i="0" dirty="0">
                <a:solidFill>
                  <a:srgbClr val="495057"/>
                </a:solidFill>
                <a:effectLst/>
                <a:latin typeface="Tahoma" panose="020B0604030504040204" pitchFamily="34" charset="0"/>
              </a:rPr>
              <a:t>():</a:t>
            </a:r>
            <a:r>
              <a:rPr lang="en-US" dirty="0">
                <a:effectLst/>
              </a:rPr>
              <a:t> If the </a:t>
            </a:r>
            <a:r>
              <a:rPr lang="en-US" i="1" dirty="0">
                <a:effectLst/>
              </a:rPr>
              <a:t>key</a:t>
            </a:r>
            <a:r>
              <a:rPr lang="en-US" dirty="0">
                <a:effectLst/>
              </a:rPr>
              <a:t> is not present in the map or null value is related to the </a:t>
            </a:r>
            <a:r>
              <a:rPr lang="en-US" i="1" dirty="0">
                <a:effectLst/>
              </a:rPr>
              <a:t>key,</a:t>
            </a:r>
            <a:r>
              <a:rPr lang="en-US" dirty="0">
                <a:effectLst/>
              </a:rPr>
              <a:t> then it attempts to compute the value using the given </a:t>
            </a:r>
            <a:r>
              <a:rPr lang="en-US" i="1" dirty="0" err="1">
                <a:effectLst/>
              </a:rPr>
              <a:t>mappingFunction</a:t>
            </a:r>
            <a:r>
              <a:rPr lang="en-US" dirty="0">
                <a:effectLst/>
              </a:rPr>
              <a:t>. Also, </a:t>
            </a:r>
            <a:r>
              <a:rPr lang="en-US" b="1" dirty="0">
                <a:effectLst/>
              </a:rPr>
              <a:t>it enters the calculated value into the map unless the calculated value is null.</a:t>
            </a:r>
            <a:endParaRPr lang="en-US" dirty="0">
              <a:effectLst/>
            </a:endParaRPr>
          </a:p>
          <a:p>
            <a:pPr algn="l"/>
            <a:r>
              <a:rPr lang="en-US" dirty="0">
                <a:effectLst/>
              </a:rPr>
              <a:t>You can find more information here: https://www.baeldung.com/java-map-computeifabsent</a:t>
            </a:r>
          </a:p>
          <a:p>
            <a:br>
              <a:rPr lang="en-US" dirty="0">
                <a:effectLst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1"/>
            <a:fld id="{316969AA-9439-471E-9578-E8A340D4EAE1}" type="slidenum">
              <a:rPr lang="en-US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8236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1"/>
            <a:fld id="{316969AA-9439-471E-9578-E8A340D4EAE1}" type="slidenum">
              <a:rPr lang="en-US" smtClean="0"/>
              <a:t>31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276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כותרת משנה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e-IL"/>
              <a:t>לחץ כדי לערוך סגנון כותרת משנה של תבנית בסיס</a:t>
            </a:r>
            <a:endParaRPr kumimoji="0" lang="en-US"/>
          </a:p>
        </p:txBody>
      </p:sp>
      <p:sp>
        <p:nvSpPr>
          <p:cNvPr id="28" name="מציין מיקום של תאריך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093A21EC-2FE7-411D-A5E3-C6D6E7EF6222}" type="datetime12">
              <a:rPr lang="he-IL" smtClean="0"/>
              <a:t>19/04/2026 10:25</a:t>
            </a:fld>
            <a:endParaRPr lang="en-US" sz="1600" dirty="0"/>
          </a:p>
        </p:txBody>
      </p:sp>
      <p:sp>
        <p:nvSpPr>
          <p:cNvPr id="17" name="מציין מיקום של כותרת תחתונה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 dirty="0"/>
          </a:p>
        </p:txBody>
      </p:sp>
      <p:sp>
        <p:nvSpPr>
          <p:cNvPr id="29" name="מציין מיקום של מספר שקופית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  <p:sp>
        <p:nvSpPr>
          <p:cNvPr id="21" name="מלבן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מלבן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מלבן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מלבן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75" y="2867025"/>
            <a:ext cx="1638300" cy="781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3" name="תמונה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75" y="2867025"/>
            <a:ext cx="1638300" cy="78105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>
                <a:cs typeface="+mj-cs"/>
              </a:defRPr>
            </a:lvl1pPr>
          </a:lstStyle>
          <a:p>
            <a:r>
              <a:rPr kumimoji="0" lang="he-IL" dirty="0"/>
              <a:t>לחץ כדי לערוך סגנון כותרת של תבנית בסיס</a:t>
            </a:r>
            <a:endParaRPr kumimoji="0"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rtl="1">
              <a:defRPr/>
            </a:lvl1pPr>
          </a:lstStyle>
          <a:p>
            <a:fld id="{3C65FB71-36CD-4D95-8F1C-D115C4229E21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rtl="1">
              <a:defRPr/>
            </a:lvl1pPr>
          </a:lstStyle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  <p:sp>
        <p:nvSpPr>
          <p:cNvPr id="8" name="מציין מיקום תוכן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+mn-cs"/>
              </a:defRPr>
            </a:lvl1pPr>
            <a:lvl2pPr algn="l" rtl="0">
              <a:lnSpc>
                <a:spcPct val="100000"/>
              </a:lnSpc>
              <a:spcBef>
                <a:spcPts val="0"/>
              </a:spcBef>
              <a:defRPr>
                <a:latin typeface="Times New Roman" panose="02020603050405020304" pitchFamily="18" charset="0"/>
                <a:cs typeface="+mn-cs"/>
              </a:defRPr>
            </a:lvl2pPr>
            <a:lvl3pPr algn="l" rtl="0">
              <a:spcBef>
                <a:spcPts val="0"/>
              </a:spcBef>
              <a:defRPr>
                <a:latin typeface="Times New Roman" panose="02020603050405020304" pitchFamily="18" charset="0"/>
                <a:cs typeface="+mn-cs"/>
              </a:defRPr>
            </a:lvl3pPr>
            <a:lvl4pPr algn="l" rtl="0">
              <a:defRPr>
                <a:latin typeface="Times New Roman" panose="02020603050405020304" pitchFamily="18" charset="0"/>
                <a:cs typeface="+mn-cs"/>
              </a:defRPr>
            </a:lvl4pPr>
            <a:lvl5pPr algn="l" rtl="0">
              <a:defRPr>
                <a:latin typeface="Times New Roman" panose="02020603050405020304" pitchFamily="18" charset="0"/>
                <a:cs typeface="+mn-cs"/>
              </a:defRPr>
            </a:lvl5pPr>
          </a:lstStyle>
          <a:p>
            <a:pPr lvl="0" eaLnBrk="1" latinLnBrk="0" hangingPunct="1"/>
            <a:r>
              <a:rPr lang="he-IL" dirty="0"/>
              <a:t>לחץ כדי לערוך סגנונות טקסט של תבנית בסיס</a:t>
            </a:r>
          </a:p>
          <a:p>
            <a:pPr lvl="1" eaLnBrk="1" latinLnBrk="0" hangingPunct="1"/>
            <a:r>
              <a:rPr lang="he-IL" dirty="0"/>
              <a:t>רמה שנייה</a:t>
            </a:r>
          </a:p>
          <a:p>
            <a:pPr lvl="2" eaLnBrk="1" latinLnBrk="0" hangingPunct="1"/>
            <a:r>
              <a:rPr lang="he-IL" dirty="0"/>
              <a:t>רמה שלישית</a:t>
            </a:r>
          </a:p>
          <a:p>
            <a:pPr lvl="3" eaLnBrk="1" latinLnBrk="0" hangingPunct="1"/>
            <a:r>
              <a:rPr lang="he-IL" dirty="0"/>
              <a:t>רמה רביעית</a:t>
            </a:r>
          </a:p>
          <a:p>
            <a:pPr lvl="4" eaLnBrk="1" latinLnBrk="0" hangingPunct="1"/>
            <a:r>
              <a:rPr lang="he-IL" dirty="0"/>
              <a:t>רמה חמישית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>
                <a:cs typeface="+mj-cs"/>
              </a:defRPr>
            </a:lvl1pPr>
          </a:lstStyle>
          <a:p>
            <a:r>
              <a:rPr kumimoji="0" lang="he-IL" dirty="0"/>
              <a:t>לחץ כדי לערוך סגנון כותרת של תבנית בסיס</a:t>
            </a:r>
            <a:endParaRPr kumimoji="0"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rtl="1">
              <a:defRPr/>
            </a:lvl1pPr>
          </a:lstStyle>
          <a:p>
            <a:fld id="{E879C280-08E1-49CD-9AB3-18066E8A5785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rtl="1">
              <a:defRPr/>
            </a:lvl1pPr>
          </a:lstStyle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6873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431D361C-9303-464D-8FB8-137B5BC87983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  <p:sp>
        <p:nvSpPr>
          <p:cNvPr id="7" name="מלבן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מלבן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0078A2-B641-49DD-BCBA-DEFECFD37419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מציין מיקום תוכן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8771D67F-190D-4D33-AB47-2CDE14016DC4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13" name="מציין מיקום תוכן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רק תת-כותרת במרכ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ABF419F-A913-44F9-BF48-E993CA139B62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5" name="מחבר ישר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שולש שווה שוקיים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כותרת 1"/>
          <p:cNvSpPr>
            <a:spLocks noGrp="1"/>
          </p:cNvSpPr>
          <p:nvPr>
            <p:ph type="title"/>
          </p:nvPr>
        </p:nvSpPr>
        <p:spPr>
          <a:xfrm>
            <a:off x="457200" y="2586608"/>
            <a:ext cx="8229600" cy="914400"/>
          </a:xfr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anchor="ctr"/>
          <a:lstStyle>
            <a:lvl1pPr algn="ctr">
              <a:defRPr b="1"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 dirty="0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A4D754-1B27-4F6B-9FC3-FFA746D22559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5" name="מחבר ישר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שולש שווה שוקיים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9" name="תמונה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372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C295A74-5CC7-4309-89BF-8318608FF804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חבר ישר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משולש שווה שוקיים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מציין מיקום תוכן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he-IL"/>
              <a:t>לחץ על הסמל כדי להוסיף תמונה</a:t>
            </a:r>
            <a:endParaRPr kumimoji="0" lang="en-US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73007AC-2335-4F23-8F98-687CE872E743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משולש שווה שוקיים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מלבן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A62DA6-0538-4978-9676-D51079ED481C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14EDCF8-A9D9-4364-BEA4-6987B3D6A23C}" type="datetime12">
              <a:rPr lang="he-IL" smtClean="0"/>
              <a:t>19/04/2026 10:25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מונחי עצמים מתקדם</a:t>
            </a:r>
            <a:endParaRPr kumimoji="0"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משולש שווה שוקיים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מחבר ישר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ציין מיקום של כותרת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3" name="מציין מיקום טקסט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 dirty="0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 dirty="0"/>
              <a:t>רמה שנייה</a:t>
            </a:r>
          </a:p>
          <a:p>
            <a:pPr lvl="2" eaLnBrk="1" latinLnBrk="0" hangingPunct="1"/>
            <a:r>
              <a:rPr kumimoji="0" lang="he-IL" dirty="0"/>
              <a:t>רמה שלישית</a:t>
            </a:r>
          </a:p>
          <a:p>
            <a:pPr lvl="3" eaLnBrk="1" latinLnBrk="0" hangingPunct="1"/>
            <a:r>
              <a:rPr kumimoji="0" lang="he-IL" dirty="0"/>
              <a:t>רמה רביעית</a:t>
            </a:r>
          </a:p>
          <a:p>
            <a:pPr lvl="4" eaLnBrk="1" latinLnBrk="0" hangingPunct="1"/>
            <a:r>
              <a:rPr kumimoji="0" lang="he-IL" dirty="0"/>
              <a:t>רמה חמישית</a:t>
            </a:r>
            <a:endParaRPr kumimoji="0" lang="en-US" dirty="0"/>
          </a:p>
        </p:txBody>
      </p:sp>
      <p:sp>
        <p:nvSpPr>
          <p:cNvPr id="14" name="מציין מיקום של תאריך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F479EE4-1301-49FC-A591-834442A162C9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he-IL"/>
              <a:t>עיצוב ותכנות מונחי עצמים מתקדם</a:t>
            </a:r>
            <a:endParaRPr lang="en-US" dirty="0"/>
          </a:p>
        </p:txBody>
      </p:sp>
      <p:sp>
        <p:nvSpPr>
          <p:cNvPr id="23" name="מציין מיקום של מספר שקופית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מחבר ישר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מחבר ישר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שולש שווה שוקיים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r" rtl="1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spcAft>
          <a:spcPts val="2400"/>
        </a:spcAft>
        <a:buClr>
          <a:schemeClr val="accent1"/>
        </a:buClr>
        <a:buSzPct val="76000"/>
        <a:buFont typeface="Wingdings 3"/>
        <a:buChar char=""/>
        <a:defRPr kumimoji="0" sz="2600" kern="1200">
          <a:solidFill>
            <a:srgbClr val="002060"/>
          </a:solidFill>
          <a:latin typeface="+mn-lt"/>
          <a:ea typeface="+mn-ea"/>
          <a:cs typeface="+mn-cs"/>
        </a:defRPr>
      </a:lvl1pPr>
      <a:lvl2pPr marL="548640" indent="-274320" algn="r" rtl="1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r" rtl="1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r" rtl="1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java-8-sort-lambda" TargetMode="External"/><Relationship Id="rId2" Type="http://schemas.openxmlformats.org/officeDocument/2006/relationships/hyperlink" Target="https://www.baeldung.com/java-8-functional-interfac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eldung.com/java-groupingby-collector" TargetMode="External"/><Relationship Id="rId5" Type="http://schemas.openxmlformats.org/officeDocument/2006/relationships/hyperlink" Target="https://www.baeldung.com/java-8-collectors" TargetMode="External"/><Relationship Id="rId4" Type="http://schemas.openxmlformats.org/officeDocument/2006/relationships/hyperlink" Target="https://www.baeldung.com/java-8-strea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187624" y="3717032"/>
            <a:ext cx="6984776" cy="1159768"/>
          </a:xfrm>
        </p:spPr>
        <p:txBody>
          <a:bodyPr anchor="ctr">
            <a:normAutofit/>
          </a:bodyPr>
          <a:lstStyle/>
          <a:p>
            <a:pPr algn="r" rtl="1"/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ותִכנוּת מונחי עצמים להנדסה</a:t>
            </a:r>
            <a:b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מספר קורס: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157109</a:t>
            </a:r>
            <a:r>
              <a:rPr lang="he-IL"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400" dirty="0">
                <a:latin typeface="Arial"/>
                <a:cs typeface="Arial"/>
              </a:rPr>
              <a:t>Java Streams</a:t>
            </a:r>
            <a:endParaRPr lang="he-IL" sz="2300" dirty="0"/>
          </a:p>
        </p:txBody>
      </p:sp>
    </p:spTree>
    <p:extLst>
      <p:ext uri="{BB962C8B-B14F-4D97-AF65-F5344CB8AC3E}">
        <p14:creationId xmlns:p14="http://schemas.microsoft.com/office/powerpoint/2010/main" val="381801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>
                <a:latin typeface="Arial"/>
                <a:cs typeface="Arial"/>
              </a:rPr>
              <a:t>נושאים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850CDEA5-324D-4CF5-8651-04AB8D6D2CF2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0" eaLnBrk="1" latinLnBrk="0" hangingPunct="1"/>
              <a:t>2</a:t>
            </a:fld>
            <a:endParaRPr kumimoji="0" lang="he-IL" dirty="0"/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1"/>
          </p:nvPr>
        </p:nvSpPr>
        <p:spPr>
          <a:xfrm>
            <a:off x="455312" y="1340768"/>
            <a:ext cx="8688687" cy="4896544"/>
          </a:xfrm>
        </p:spPr>
        <p:txBody>
          <a:bodyPr>
            <a:normAutofit/>
          </a:bodyPr>
          <a:lstStyle/>
          <a:p>
            <a:pPr marL="514350" indent="-514350" algn="r" rtl="1">
              <a:buFont typeface="+mj-lt"/>
              <a:buAutoNum type="arabicParenR"/>
            </a:pPr>
            <a:r>
              <a:rPr lang="he-IL" sz="2800" dirty="0">
                <a:latin typeface="Arial"/>
                <a:cs typeface="Arial"/>
              </a:rPr>
              <a:t>ביטויי </a:t>
            </a:r>
            <a:r>
              <a:rPr lang="he-IL" sz="2800" dirty="0" err="1">
                <a:latin typeface="Arial"/>
                <a:cs typeface="Arial"/>
              </a:rPr>
              <a:t>Lambda</a:t>
            </a:r>
            <a:r>
              <a:rPr lang="he-IL" sz="2800" dirty="0">
                <a:latin typeface="Arial"/>
                <a:cs typeface="Arial"/>
              </a:rPr>
              <a:t> וטיפוסי פונקציות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sz="2500" dirty="0">
                <a:latin typeface="Arial"/>
                <a:cs typeface="Arial"/>
              </a:rPr>
              <a:t>תחביר ביטוי </a:t>
            </a:r>
            <a:r>
              <a:rPr lang="en-US" sz="2500" dirty="0">
                <a:latin typeface="Arial"/>
                <a:cs typeface="Arial"/>
              </a:rPr>
              <a:t>Lambda</a:t>
            </a:r>
            <a:endParaRPr lang="he-IL" sz="2500" dirty="0">
              <a:latin typeface="Arial"/>
              <a:cs typeface="Arial"/>
            </a:endParaRP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en-US" sz="2500" dirty="0"/>
              <a:t>Predicate, Function, Operator, Consumer, Supplier, </a:t>
            </a:r>
            <a:r>
              <a:rPr lang="en-US" sz="2500" dirty="0" err="1"/>
              <a:t>BiFunction</a:t>
            </a:r>
            <a:endParaRPr lang="he-IL" sz="2500" dirty="0"/>
          </a:p>
          <a:p>
            <a:pPr marL="514350" indent="-514350" algn="r" rtl="1">
              <a:buFont typeface="+mj-lt"/>
              <a:buAutoNum type="arabicParenR"/>
            </a:pPr>
            <a:r>
              <a:rPr lang="he-IL" sz="2800" dirty="0">
                <a:latin typeface="Arial"/>
                <a:cs typeface="Arial"/>
              </a:rPr>
              <a:t>מקורות Stream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sz="2500" dirty="0">
                <a:latin typeface="Arial"/>
                <a:cs typeface="Arial"/>
              </a:rPr>
              <a:t>File, Array, Collection, Static</a:t>
            </a:r>
          </a:p>
          <a:p>
            <a:pPr marL="514350" indent="-514350" algn="r" rtl="1">
              <a:buFont typeface="+mj-lt"/>
              <a:buAutoNum type="arabicParenR"/>
            </a:pPr>
            <a:r>
              <a:rPr lang="he-IL" sz="2800" dirty="0">
                <a:latin typeface="Arial"/>
                <a:cs typeface="Arial"/>
              </a:rPr>
              <a:t>פעולות ביניים על Stream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sz="2500" dirty="0">
                <a:latin typeface="Arial"/>
                <a:cs typeface="Arial"/>
              </a:rPr>
              <a:t>distinct, skip, limit, map, flatMap, filter, sorted</a:t>
            </a:r>
          </a:p>
          <a:p>
            <a:pPr marL="514350" indent="-514350" algn="r" rtl="1">
              <a:buFont typeface="+mj-lt"/>
              <a:buAutoNum type="arabicParenR"/>
            </a:pPr>
            <a:r>
              <a:rPr lang="he-IL" sz="2800" dirty="0">
                <a:latin typeface="Arial"/>
                <a:cs typeface="Arial"/>
              </a:rPr>
              <a:t>פעולות סופיות על Stream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sz="2500" dirty="0">
                <a:latin typeface="Arial"/>
                <a:cs typeface="Arial"/>
              </a:rPr>
              <a:t>findFirst, count, average, </a:t>
            </a:r>
            <a:r>
              <a:rPr lang="he-IL" sz="2500" dirty="0" err="1">
                <a:latin typeface="Arial"/>
                <a:cs typeface="Arial"/>
              </a:rPr>
              <a:t>anyMatch</a:t>
            </a:r>
            <a:r>
              <a:rPr lang="he-IL" sz="2500" dirty="0">
                <a:latin typeface="Arial"/>
                <a:cs typeface="Arial"/>
              </a:rPr>
              <a:t>, reduce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sz="2500" dirty="0">
                <a:latin typeface="Arial"/>
                <a:cs typeface="Arial"/>
              </a:rPr>
              <a:t>Collectors: toList, toMap, toCollection, groupingBy</a:t>
            </a:r>
            <a:endParaRPr lang="he-IL" sz="2500" dirty="0"/>
          </a:p>
          <a:p>
            <a:pPr marL="514350" indent="-514350" algn="l" rtl="1">
              <a:buFont typeface="+mj-lt"/>
              <a:buAutoNum type="arabicParenR"/>
            </a:pPr>
            <a:endParaRPr lang="he-IL" sz="2800" dirty="0"/>
          </a:p>
        </p:txBody>
      </p:sp>
      <p:sp>
        <p:nvSpPr>
          <p:cNvPr id="10" name="מציין מיקום של כותרת תחתונה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</p:spTree>
    <p:extLst>
      <p:ext uri="{BB962C8B-B14F-4D97-AF65-F5344CB8AC3E}">
        <p14:creationId xmlns:p14="http://schemas.microsoft.com/office/powerpoint/2010/main" val="63477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1AA2-E865-4B38-8296-42A97095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ED0E6C20-F802-4F09-98A2-584B54276561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42E60-C93B-4B33-BAB5-7EFF89B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71406-BC74-4A7D-A73B-22A1CB5D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he-IL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73CC0E-02B5-4097-80BC-CF65AE4D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>
                <a:latin typeface="Arial"/>
                <a:cs typeface="Arial"/>
              </a:rPr>
              <a:t>ביטויי Lambda</a:t>
            </a:r>
            <a:endParaRPr lang="he-IL" dirty="0"/>
          </a:p>
        </p:txBody>
      </p:sp>
      <p:pic>
        <p:nvPicPr>
          <p:cNvPr id="2050" name="Picture 2" descr="Image result for java lambda">
            <a:extLst>
              <a:ext uri="{FF2B5EF4-FFF2-40B4-BE49-F238E27FC236}">
                <a16:creationId xmlns:a16="http://schemas.microsoft.com/office/drawing/2014/main" id="{C398FD94-5B69-4FB3-AD57-392F68A58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971" y="3850554"/>
            <a:ext cx="4390057" cy="246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89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1E68BDB-B6E1-4612-B035-19B1AD391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מוטיבציה</a:t>
            </a:r>
            <a:endParaRPr lang="he-I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BD6E7-E6F9-4B8B-9B9D-3965CBDF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eaLnBrk="1" latinLnBrk="0" hangingPunct="1"/>
            <a:fld id="{FDAAF18B-87C4-4D1F-9B94-1414D1740469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827C9-5011-484C-858E-DFAC48BD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kumimoji="0"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3041D-B3DE-4896-886D-C80A711E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he-IL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8577A7-A3C8-4A03-BD44-57F6FB0A88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ביטויי Lambda מספקים דרך תמציתית לכתוב פונקציות אנונימיות קצרות וברורות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שימושי כאשר אנו רוצים להגדיר פונקציה חד-פעמית מקומית התלויה בהקשר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פונקציות בסיסיות (sort, removeIf) מקבלות פרמטר פונקציונלי (Comparator, Predicate)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חיוני עבור </a:t>
            </a:r>
            <a:r>
              <a:rPr lang="he-IL" dirty="0" err="1">
                <a:latin typeface="Arial"/>
                <a:cs typeface="Arial"/>
              </a:rPr>
              <a:t>Stream</a:t>
            </a:r>
            <a:r>
              <a:rPr lang="en-US" dirty="0">
                <a:latin typeface="Arial"/>
                <a:cs typeface="Arial"/>
              </a:rPr>
              <a:t>s</a:t>
            </a:r>
            <a:r>
              <a:rPr lang="he-IL" dirty="0">
                <a:latin typeface="Arial"/>
                <a:cs typeface="Arial"/>
              </a:rPr>
              <a:t> (בהמשך)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27455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F2F1-4157-4521-B182-D882BAAE0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הגדרת Lambda: תחביר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C836C-7060-4AD1-A9E5-8743C4CA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9D9073EA-6A2B-4575-8690-4700BE50B384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EB290-023B-468F-9AC3-83525531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3F40A-4611-4311-A70C-3D4D1596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0B0F6-9F7A-4995-B8C4-C09638EA9E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/>
              <a:t>(parameters)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sz="3600" dirty="0"/>
              <a:t>  {function body}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ניתן להצהיר במפורש את טיפוס הפרמטרים ובמקרים </a:t>
            </a:r>
            <a:r>
              <a:rPr lang="he-IL" dirty="0" err="1">
                <a:latin typeface="Arial"/>
                <a:cs typeface="Arial"/>
              </a:rPr>
              <a:t>מסויימים</a:t>
            </a:r>
            <a:r>
              <a:rPr lang="he-IL" dirty="0">
                <a:latin typeface="Arial"/>
                <a:cs typeface="Arial"/>
              </a:rPr>
              <a:t> ניתן להסיק אותו מההקשר 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כאשר יש פרמטר יחיד שהטיפוס שלו ידוע, אין צורך בסוגריים.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כאשר גוף הפונקציה מורכב מביטוי החזרה יחיד, הסוגריים המסולסלים ו-"return" אינם חובה</a:t>
            </a:r>
          </a:p>
          <a:p>
            <a:pPr rtl="1"/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1DB8FB-E39A-4D35-9D78-78A14DAC4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0" y="4221088"/>
            <a:ext cx="8756444" cy="193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6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E05E-D23E-43B4-A6E5-7A825142F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הגדרת Lambda: דוגמאות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4E501-D086-4B63-BEF9-393859ED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7B95F5D6-DDA3-4E14-B9D0-8C2EBC61DFCB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25693-318D-4A28-92FE-97650259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D9989-ADDD-4432-9A82-397F0F139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28D3F-0C64-44AD-876C-85AADAC1D0D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(String s)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{ </a:t>
            </a:r>
            <a:r>
              <a:rPr lang="en-US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(s); }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(char c)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c == 'y'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{ return 3.14; }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{ </a:t>
            </a:r>
            <a:r>
              <a:rPr lang="en-US" dirty="0" err="1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("Hello World!"); }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42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(int a, int b)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a * a + b * b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n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n % 2 != 0</a:t>
            </a:r>
          </a:p>
          <a:p>
            <a:pPr latinLnBrk="1"/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(x, y)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-&gt;</a:t>
            </a:r>
            <a:r>
              <a:rPr lang="en-US" dirty="0">
                <a:latin typeface="Consolas" panose="020B0609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 x + y</a:t>
            </a: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1F6BB11-ED41-0640-D572-C98C45D5AF3C}"/>
              </a:ext>
            </a:extLst>
          </p:cNvPr>
          <p:cNvSpPr/>
          <p:nvPr/>
        </p:nvSpPr>
        <p:spPr>
          <a:xfrm>
            <a:off x="3563888" y="4149080"/>
            <a:ext cx="144016" cy="86409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E5D24-A153-7AC2-E69F-D2674A91399E}"/>
              </a:ext>
            </a:extLst>
          </p:cNvPr>
          <p:cNvSpPr txBox="1"/>
          <p:nvPr/>
        </p:nvSpPr>
        <p:spPr>
          <a:xfrm>
            <a:off x="3671900" y="4396462"/>
            <a:ext cx="5319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בהנחה שניתן להסיק את הטיפוס של הפרמטרים מההקשר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19139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61A5-A25C-4D63-8C55-5401D7C5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Arial"/>
                <a:cs typeface="Arial"/>
              </a:rPr>
              <a:t>Predicate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73CD0-EDE3-447A-843A-AF2B3836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CC82719D-3785-4BD1-B796-83831F921E97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256CB-73B8-4612-8A1C-CE2865C2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4690F-2854-4CBB-9878-2B695321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B466F7-8AE5-482A-A157-03444F92C53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108520" y="1219200"/>
            <a:ext cx="9217024" cy="4937760"/>
          </a:xfrm>
        </p:spPr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מקבל T ומחזיר Boolean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אפשר לבצע השמה של</a:t>
            </a:r>
            <a:r>
              <a:rPr lang="en-US" dirty="0">
                <a:latin typeface="Arial"/>
                <a:cs typeface="Arial"/>
              </a:rPr>
              <a:t>Predicate </a:t>
            </a:r>
            <a:r>
              <a:rPr lang="he-IL" dirty="0">
                <a:latin typeface="Arial"/>
                <a:cs typeface="Arial"/>
              </a:rPr>
              <a:t> למשתנה מפורש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Predicate&lt;Integer&gt; divisibleBy10 = </a:t>
            </a:r>
            <a:r>
              <a:rPr lang="en-US" sz="2500" dirty="0">
                <a:solidFill>
                  <a:srgbClr val="FF0000"/>
                </a:solidFill>
                <a:latin typeface="Consolas" panose="020B0609020204030204" pitchFamily="49" charset="0"/>
              </a:rPr>
              <a:t>v -&gt; v%10 == 0</a:t>
            </a:r>
            <a:r>
              <a:rPr lang="en-US" sz="2500" dirty="0">
                <a:latin typeface="Consolas" panose="020B0609020204030204" pitchFamily="49" charset="0"/>
              </a:rPr>
              <a:t>;</a:t>
            </a:r>
          </a:p>
          <a:p>
            <a:pPr marL="274320" lvl="1" indent="0">
              <a:buNone/>
            </a:pPr>
            <a:r>
              <a:rPr lang="en-US" sz="2500" dirty="0" err="1">
                <a:latin typeface="Consolas" panose="020B0609020204030204" pitchFamily="49" charset="0"/>
              </a:rPr>
              <a:t>boolean</a:t>
            </a:r>
            <a:r>
              <a:rPr lang="en-US" sz="2500" dirty="0">
                <a:latin typeface="Consolas" panose="020B0609020204030204" pitchFamily="49" charset="0"/>
              </a:rPr>
              <a:t> b = divisibleBy10.test(70);</a:t>
            </a:r>
          </a:p>
          <a:p>
            <a:pPr marL="274320" lvl="1" indent="0">
              <a:buNone/>
            </a:pPr>
            <a:r>
              <a:rPr lang="en-US" sz="2500" dirty="0" err="1">
                <a:latin typeface="Consolas" panose="020B0609020204030204" pitchFamily="49" charset="0"/>
              </a:rPr>
              <a:t>intCollection.removeIf</a:t>
            </a:r>
            <a:r>
              <a:rPr lang="en-US" sz="2500" dirty="0">
                <a:latin typeface="Consolas" panose="020B0609020204030204" pitchFamily="49" charset="0"/>
              </a:rPr>
              <a:t>(divisibleBy10);</a:t>
            </a:r>
          </a:p>
          <a:p>
            <a:pPr rtl="1">
              <a:buFont typeface="Wingdings 3" panose="05040102010807070707" pitchFamily="18" charset="2"/>
              <a:buChar char=""/>
            </a:pPr>
            <a:endParaRPr lang="he-IL" sz="2800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sz="2800" dirty="0">
                <a:latin typeface="Arial"/>
                <a:cs typeface="Arial"/>
              </a:rPr>
              <a:t>אפשר להגדיר פרדיקטים אד-הוק ולהשתמש בהם כפרמטרים</a:t>
            </a:r>
          </a:p>
          <a:p>
            <a:pPr marL="274320" lvl="1" indent="0">
              <a:buNone/>
            </a:pPr>
            <a:r>
              <a:rPr lang="en-US" sz="2500" dirty="0" err="1">
                <a:latin typeface="Consolas" panose="020B0609020204030204" pitchFamily="49" charset="0"/>
              </a:rPr>
              <a:t>intCollection.removeIf</a:t>
            </a:r>
            <a:r>
              <a:rPr lang="en-US" sz="2500" dirty="0">
                <a:latin typeface="Consolas" panose="020B0609020204030204" pitchFamily="49" charset="0"/>
              </a:rPr>
              <a:t>(</a:t>
            </a:r>
            <a:r>
              <a:rPr lang="en-US" sz="2500" dirty="0">
                <a:solidFill>
                  <a:srgbClr val="FF0000"/>
                </a:solidFill>
                <a:latin typeface="Consolas" panose="020B0609020204030204" pitchFamily="49" charset="0"/>
              </a:rPr>
              <a:t>v -&gt; v==30</a:t>
            </a:r>
            <a:r>
              <a:rPr lang="en-US" sz="2500" dirty="0">
                <a:latin typeface="Consolas" panose="020B0609020204030204" pitchFamily="49" charset="0"/>
              </a:rPr>
              <a:t>) ;</a:t>
            </a:r>
            <a:r>
              <a:rPr lang="en-US" sz="2800" dirty="0">
                <a:latin typeface="Consolas" panose="020B06090202040302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2233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3EFDB-3B5B-40E9-8310-320CB9CD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Function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8CD76-607E-4253-8685-E27DEAA5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ED74AA8E-DEC4-41FA-9B2D-903F147BFB78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ED896-FE1D-4368-8467-C8A08FDC4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165E5-F40C-4B97-A941-9C834C9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8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DCC30-7A9B-4B3E-8D3A-CDB30287ED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299392" y="1230615"/>
            <a:ext cx="9479904" cy="4937760"/>
          </a:xfrm>
        </p:spPr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פונקציה: מקבל T ומחזיר R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Function&lt;String, Integer&gt; </a:t>
            </a:r>
            <a:r>
              <a:rPr lang="en-US" sz="2000" dirty="0" err="1">
                <a:latin typeface="Consolas" panose="020B0609020204030204" pitchFamily="49" charset="0"/>
              </a:rPr>
              <a:t>numOfWords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v -&gt;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v.split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(“ “).length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n = </a:t>
            </a:r>
            <a:r>
              <a:rPr lang="en-US" sz="2000" dirty="0" err="1">
                <a:latin typeface="Consolas" panose="020B0609020204030204" pitchFamily="49" charset="0"/>
              </a:rPr>
              <a:t>numOfWords.apply</a:t>
            </a:r>
            <a:r>
              <a:rPr lang="en-US" sz="2000" dirty="0">
                <a:latin typeface="Consolas" panose="020B0609020204030204" pitchFamily="49" charset="0"/>
              </a:rPr>
              <a:t>(“Hello world”);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שימוש בפונקציה כפרמטר: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Map&lt;String, Integer&gt; </a:t>
            </a:r>
            <a:r>
              <a:rPr lang="en-US" sz="2000" dirty="0" err="1">
                <a:latin typeface="Consolas" panose="020B0609020204030204" pitchFamily="49" charset="0"/>
              </a:rPr>
              <a:t>nameMap</a:t>
            </a:r>
            <a:r>
              <a:rPr lang="en-US" sz="2000" dirty="0">
                <a:latin typeface="Consolas" panose="020B0609020204030204" pitchFamily="49" charset="0"/>
              </a:rPr>
              <a:t> = new HashMap&lt;&gt;();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 value = </a:t>
            </a:r>
            <a:r>
              <a:rPr lang="en-US" sz="2000" dirty="0" err="1">
                <a:latin typeface="Consolas" panose="020B0609020204030204" pitchFamily="49" charset="0"/>
              </a:rPr>
              <a:t>nameMap.computeIfAbsent</a:t>
            </a:r>
            <a:r>
              <a:rPr lang="en-US" sz="2000" dirty="0">
                <a:latin typeface="Consolas" panose="020B0609020204030204" pitchFamily="49" charset="0"/>
              </a:rPr>
              <a:t>("John", s -&gt; </a:t>
            </a:r>
            <a:r>
              <a:rPr lang="en-US" sz="2000" dirty="0" err="1">
                <a:latin typeface="Consolas" panose="020B0609020204030204" pitchFamily="49" charset="0"/>
              </a:rPr>
              <a:t>s.length</a:t>
            </a:r>
            <a:r>
              <a:rPr lang="en-US" sz="2000" dirty="0">
                <a:latin typeface="Consolas" panose="020B0609020204030204" pitchFamily="49" charset="0"/>
              </a:rPr>
              <a:t>());</a:t>
            </a:r>
          </a:p>
          <a:p>
            <a:pPr lvl="1" rtl="1"/>
            <a:endParaRPr lang="he-IL" sz="2000" dirty="0">
              <a:latin typeface="Consolas" panose="020B0609020204030204" pitchFamily="49" charset="0"/>
            </a:endParaRPr>
          </a:p>
          <a:p>
            <a:endParaRPr lang="he-IL" sz="23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9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4A4D-D36D-483E-B2F2-33A09355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Consumer, Supplier and Runnable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2922D-0EAB-4992-9F4A-88853783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B8F1CEF2-E2CE-4153-9A3F-C3BB27837C25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C8D2C-3B8A-4C6E-BDC8-B5A18839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2435F-F80A-404C-A7CB-AC26491F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16831-D6C7-4058-A9AC-9399F20DF70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937760"/>
          </a:xfrm>
        </p:spPr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en-US" dirty="0"/>
              <a:t>Consumer </a:t>
            </a:r>
            <a:r>
              <a:rPr lang="he-IL" dirty="0">
                <a:latin typeface="Arial"/>
                <a:cs typeface="Arial"/>
              </a:rPr>
              <a:t>: מקבל T ולא מחזיר כלום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Consumer&lt;String&gt; </a:t>
            </a:r>
            <a:r>
              <a:rPr lang="en-US" sz="2000" dirty="0" err="1">
                <a:latin typeface="Consolas" panose="020B0609020204030204" pitchFamily="49" charset="0"/>
              </a:rPr>
              <a:t>myPrint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v -&gt;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(v)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274320" lvl="1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myPrint.accept</a:t>
            </a:r>
            <a:r>
              <a:rPr lang="en-US" sz="2000" dirty="0">
                <a:latin typeface="Consolas" panose="020B0609020204030204" pitchFamily="49" charset="0"/>
              </a:rPr>
              <a:t>(“This line will be printed”)</a:t>
            </a:r>
          </a:p>
          <a:p>
            <a:pPr rtl="1"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en-US" dirty="0"/>
              <a:t>Supplier </a:t>
            </a:r>
            <a:r>
              <a:rPr lang="he-IL" dirty="0">
                <a:latin typeface="Arial"/>
                <a:cs typeface="Arial"/>
              </a:rPr>
              <a:t>: לא מקבל כלום ומחזיר T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Supplier&lt;Double&gt; </a:t>
            </a:r>
            <a:r>
              <a:rPr lang="en-US" sz="2000" dirty="0" err="1">
                <a:latin typeface="Consolas" panose="020B0609020204030204" pitchFamily="49" charset="0"/>
              </a:rPr>
              <a:t>randomValue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() -&gt;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Math.random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latin typeface="Consolas" panose="020B0609020204030204" pitchFamily="49" charset="0"/>
              </a:rPr>
              <a:t>; </a:t>
            </a:r>
          </a:p>
          <a:p>
            <a:pPr marL="274320" lvl="1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randomValue.get</a:t>
            </a:r>
            <a:r>
              <a:rPr lang="en-US" sz="2000" dirty="0">
                <a:latin typeface="Consolas" panose="020B0609020204030204" pitchFamily="49" charset="0"/>
              </a:rPr>
              <a:t>()); </a:t>
            </a:r>
            <a:r>
              <a:rPr lang="en-US" sz="2500" dirty="0"/>
              <a:t> </a:t>
            </a:r>
            <a:r>
              <a:rPr lang="he-IL" sz="2500" dirty="0">
                <a:latin typeface="Arial"/>
                <a:cs typeface="Arial"/>
              </a:rPr>
              <a:t>       </a:t>
            </a:r>
            <a:endParaRPr lang="he-IL" u="sng" dirty="0"/>
          </a:p>
          <a:p>
            <a:pPr rtl="1"/>
            <a:endParaRPr lang="en-US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en-US" dirty="0"/>
              <a:t>Runnable </a:t>
            </a:r>
            <a:r>
              <a:rPr lang="he-IL" dirty="0">
                <a:latin typeface="Arial"/>
                <a:cs typeface="Arial"/>
              </a:rPr>
              <a:t>: לא מקבל כלום ולא מחזיר כלום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Runnable </a:t>
            </a:r>
            <a:r>
              <a:rPr lang="en-US" sz="2000" dirty="0" err="1">
                <a:latin typeface="Consolas" panose="020B0609020204030204" pitchFamily="49" charset="0"/>
              </a:rPr>
              <a:t>runnable</a:t>
            </a:r>
            <a:r>
              <a:rPr lang="en-US" sz="2000" dirty="0">
                <a:latin typeface="Consolas" panose="020B0609020204030204" pitchFamily="49" charset="0"/>
              </a:rPr>
              <a:t> = () -&gt;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(“Hello!”)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; </a:t>
            </a:r>
            <a:r>
              <a:rPr lang="en-US" sz="2000" dirty="0">
                <a:latin typeface="Consolas" panose="020B0609020204030204" pitchFamily="49" charset="0"/>
              </a:rPr>
              <a:t> </a:t>
            </a:r>
          </a:p>
          <a:p>
            <a:pPr marL="274320" lvl="1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runnable.run</a:t>
            </a:r>
            <a:r>
              <a:rPr lang="en-US" sz="2000" dirty="0">
                <a:latin typeface="Consolas" panose="020B0609020204030204" pitchFamily="49" charset="0"/>
              </a:rPr>
              <a:t>(); </a:t>
            </a:r>
            <a:endParaRPr lang="he-IL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60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7EAF-6B23-4AB9-8219-18F9B17F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e-IL" dirty="0">
                <a:latin typeface="Arial"/>
                <a:cs typeface="Arial"/>
              </a:rPr>
              <a:t>BiFunction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7153D-EED1-42C3-B0F8-64353399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8059F625-1E4A-48D2-9414-EB145ED7F4C4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037E3-DDC8-4BB9-8F3B-0DEC8195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20D01-DBE3-4F40-8F7D-D3133A3A2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10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E0270-27A8-402D-8498-74E049A6C04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-108520" y="1219200"/>
            <a:ext cx="9145016" cy="4937760"/>
          </a:xfrm>
        </p:spPr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מקבל שני פרמטרים</a:t>
            </a:r>
          </a:p>
          <a:p>
            <a:pPr marL="274320" lvl="1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BiFunction</a:t>
            </a:r>
            <a:r>
              <a:rPr lang="en-US" sz="2000" dirty="0">
                <a:latin typeface="Consolas" panose="020B0609020204030204" pitchFamily="49" charset="0"/>
              </a:rPr>
              <a:t>&lt;Integer, Integer, Integer&gt; </a:t>
            </a:r>
            <a:r>
              <a:rPr lang="en-US" sz="2000" u="sng" dirty="0">
                <a:latin typeface="Consolas" panose="020B0609020204030204" pitchFamily="49" charset="0"/>
              </a:rPr>
              <a:t>sum</a:t>
            </a:r>
            <a:r>
              <a:rPr lang="en-US" sz="2000" dirty="0"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(a, b) -&gt;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a+b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rtl="1"/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שימוש חשוב: השוואה</a:t>
            </a:r>
          </a:p>
          <a:p>
            <a:pPr marL="27432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List&lt;Human&gt; humans…</a:t>
            </a:r>
          </a:p>
          <a:p>
            <a:pPr marL="274320" lvl="1" indent="0">
              <a:buNone/>
            </a:pPr>
            <a:r>
              <a:rPr lang="pt-BR" sz="2000" dirty="0">
                <a:latin typeface="Consolas" panose="020B0609020204030204" pitchFamily="49" charset="0"/>
              </a:rPr>
              <a:t>humans.sort(</a:t>
            </a:r>
            <a:r>
              <a:rPr lang="pt-BR" sz="2000" dirty="0">
                <a:solidFill>
                  <a:srgbClr val="FF0000"/>
                </a:solidFill>
                <a:latin typeface="Consolas" panose="020B0609020204030204" pitchFamily="49" charset="0"/>
              </a:rPr>
              <a:t>(h1, h2) -&gt; h1.getName().compareTo(h2.getName())</a:t>
            </a:r>
            <a:r>
              <a:rPr lang="pt-BR" sz="2000" dirty="0">
                <a:latin typeface="Consolas" panose="020B0609020204030204" pitchFamily="49" charset="0"/>
              </a:rPr>
              <a:t>);</a:t>
            </a:r>
            <a:endParaRPr lang="he-IL" sz="2000" dirty="0">
              <a:latin typeface="Consolas" panose="020B0609020204030204" pitchFamily="49" charset="0"/>
            </a:endParaRPr>
          </a:p>
          <a:p>
            <a:pPr algn="r" rtl="1">
              <a:buFont typeface="Wingdings 3" panose="05040102010807070707" pitchFamily="18" charset="2"/>
              <a:buChar char=""/>
            </a:pPr>
            <a:endParaRPr lang="he-IL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761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75C44-46C2-438F-BE7E-FD7522247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/>
                <a:cs typeface="Arial"/>
              </a:rPr>
              <a:t>שימוש בפונקציה מוגדרת </a:t>
            </a:r>
            <a:r>
              <a:rPr lang="en-US" dirty="0">
                <a:latin typeface="Arial"/>
                <a:cs typeface="Arial"/>
              </a:rPr>
              <a:t>(Method reference)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487B5-16C2-4CDB-8B30-138AAF4BD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F324EF87-39FC-4969-A746-62A499C4F36A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AE8FE1-241D-437E-A461-18048ABE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DBE98-2AE8-4A6A-95F2-A9837969D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eaLnBrk="1" latinLnBrk="0" hangingPunct="1"/>
              <a:t>11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CABDA-32E0-46E7-A659-66DB80844C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7504" y="1219200"/>
            <a:ext cx="8579296" cy="4937760"/>
          </a:xfrm>
        </p:spPr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נוכל להתייחס לפונקציה שכבר הוגדרה במחלקה נתונה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Consumer&lt;String&gt; </a:t>
            </a:r>
            <a:r>
              <a:rPr lang="en-US" dirty="0" err="1">
                <a:latin typeface="Consolas" panose="020B0609020204030204" pitchFamily="49" charset="0"/>
              </a:rPr>
              <a:t>myPrint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System.</a:t>
            </a:r>
            <a:r>
              <a:rPr lang="en-US" i="1" dirty="0" err="1">
                <a:latin typeface="Consolas" panose="020B0609020204030204" pitchFamily="49" charset="0"/>
              </a:rPr>
              <a:t>out</a:t>
            </a:r>
            <a:r>
              <a:rPr lang="en-US" i="1" dirty="0">
                <a:latin typeface="Consolas" panose="020B0609020204030204" pitchFamily="49" charset="0"/>
              </a:rPr>
              <a:t>::</a:t>
            </a:r>
            <a:r>
              <a:rPr lang="en-US" i="1" dirty="0" err="1">
                <a:latin typeface="Consolas" panose="020B0609020204030204" pitchFamily="49" charset="0"/>
              </a:rPr>
              <a:t>println</a:t>
            </a:r>
            <a:endParaRPr lang="en-US" i="1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Function&lt;Worker, String&gt; </a:t>
            </a:r>
            <a:r>
              <a:rPr lang="en-US" dirty="0" err="1">
                <a:latin typeface="Consolas" panose="020B0609020204030204" pitchFamily="49" charset="0"/>
              </a:rPr>
              <a:t>myName</a:t>
            </a:r>
            <a:r>
              <a:rPr lang="en-US" dirty="0">
                <a:latin typeface="Consolas" panose="020B0609020204030204" pitchFamily="49" charset="0"/>
              </a:rPr>
              <a:t> = Worker::</a:t>
            </a:r>
            <a:r>
              <a:rPr lang="en-US" dirty="0" err="1">
                <a:latin typeface="Consolas" panose="020B0609020204030204" pitchFamily="49" charset="0"/>
              </a:rPr>
              <a:t>getName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rtl="1"/>
            <a:endParaRPr lang="he-IL" u="sng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en-US" dirty="0">
                <a:latin typeface="Arial"/>
                <a:cs typeface="Arial"/>
              </a:rPr>
              <a:t>Method reference </a:t>
            </a:r>
            <a:r>
              <a:rPr lang="he-IL" dirty="0">
                <a:latin typeface="Arial"/>
                <a:cs typeface="Arial"/>
              </a:rPr>
              <a:t> יהיה שימושי עבור </a:t>
            </a:r>
            <a:r>
              <a:rPr lang="he-IL" dirty="0" err="1">
                <a:latin typeface="Arial"/>
                <a:cs typeface="Arial"/>
              </a:rPr>
              <a:t>Streams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2896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06A90-C611-487D-88AD-333C88AF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סוגים של </a:t>
            </a:r>
            <a:r>
              <a:rPr lang="en-US" dirty="0"/>
              <a:t>method reference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203E3-CAF6-4C3E-BFDC-6717A51A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40C1-2B4A-4658-A01B-7498B63F197D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4B5CB-2113-4341-BEC2-3EC14F94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2BB62-14E0-4779-B95D-39399F3B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12</a:t>
            </a:fld>
            <a:endParaRPr kumimoji="0"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DC257F7-45D4-4E94-986B-F7140D3AB51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32612836"/>
              </p:ext>
            </p:extLst>
          </p:nvPr>
        </p:nvGraphicFramePr>
        <p:xfrm>
          <a:off x="125760" y="1122432"/>
          <a:ext cx="8892480" cy="1977390"/>
        </p:xfrm>
        <a:graphic>
          <a:graphicData uri="http://schemas.openxmlformats.org/drawingml/2006/table">
            <a:tbl>
              <a:tblPr rtl="1" firstRow="1">
                <a:tableStyleId>{5C22544A-7EE6-4342-B048-85BDC9FD1C3A}</a:tableStyleId>
              </a:tblPr>
              <a:tblGrid>
                <a:gridCol w="3907880">
                  <a:extLst>
                    <a:ext uri="{9D8B030D-6E8A-4147-A177-3AD203B41FA5}">
                      <a16:colId xmlns:a16="http://schemas.microsoft.com/office/drawing/2014/main" val="1759821332"/>
                    </a:ext>
                  </a:extLst>
                </a:gridCol>
                <a:gridCol w="2252655">
                  <a:extLst>
                    <a:ext uri="{9D8B030D-6E8A-4147-A177-3AD203B41FA5}">
                      <a16:colId xmlns:a16="http://schemas.microsoft.com/office/drawing/2014/main" val="4174606544"/>
                    </a:ext>
                  </a:extLst>
                </a:gridCol>
                <a:gridCol w="2731945">
                  <a:extLst>
                    <a:ext uri="{9D8B030D-6E8A-4147-A177-3AD203B41FA5}">
                      <a16:colId xmlns:a16="http://schemas.microsoft.com/office/drawing/2014/main" val="70169512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r" rtl="1" fontAlgn="b"/>
                      <a:r>
                        <a:rPr kumimoji="0" lang="he-IL" sz="18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סוג </a:t>
                      </a:r>
                      <a:endParaRPr kumimoji="0" lang="en-US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דוגמא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ביטוי </a:t>
                      </a:r>
                      <a:r>
                        <a:rPr lang="en-US" sz="1800" u="none" strike="noStrike" dirty="0">
                          <a:effectLst/>
                        </a:rPr>
                        <a:t>lambda</a:t>
                      </a:r>
                      <a:r>
                        <a:rPr lang="he-IL" sz="1800" u="none" strike="noStrike" dirty="0">
                          <a:effectLst/>
                        </a:rPr>
                        <a:t> שקול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362911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פונקציה סטטית של מחלקה נתונה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 dirty="0">
                          <a:effectLst/>
                        </a:rPr>
                        <a:t>Integer::</a:t>
                      </a:r>
                      <a:r>
                        <a:rPr lang="en-US" sz="1800" u="none" strike="noStrike" dirty="0" err="1">
                          <a:effectLst/>
                        </a:rPr>
                        <a:t>parseInt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>
                          <a:effectLst/>
                        </a:rPr>
                        <a:t>str -&gt; Integer.parseInt(str)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842858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פונקציה של אובייקט נתון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 dirty="0" err="1">
                          <a:effectLst/>
                        </a:rPr>
                        <a:t>Instant.now</a:t>
                      </a:r>
                      <a:r>
                        <a:rPr lang="en-US" sz="1800" u="none" strike="noStrike" dirty="0">
                          <a:effectLst/>
                        </a:rPr>
                        <a:t>()::</a:t>
                      </a:r>
                      <a:r>
                        <a:rPr lang="en-US" sz="1800" u="none" strike="noStrike" dirty="0" err="1">
                          <a:effectLst/>
                        </a:rPr>
                        <a:t>isAfter</a:t>
                      </a:r>
                      <a:r>
                        <a:rPr lang="en-US" sz="1800" u="none" strike="noStrike" dirty="0">
                          <a:effectLst/>
                        </a:rPr>
                        <a:t>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>
                          <a:effectLst/>
                        </a:rPr>
                        <a:t>Instant then = Instant.now();</a:t>
                      </a:r>
                      <a:br>
                        <a:rPr lang="en-US" sz="1800" u="none" strike="noStrike">
                          <a:effectLst/>
                        </a:rPr>
                      </a:br>
                      <a:r>
                        <a:rPr lang="en-US" sz="1800" u="none" strike="noStrike">
                          <a:effectLst/>
                        </a:rPr>
                        <a:t>t -&gt; then.isAfter(t)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59232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פונקציה של אובייקט המתקבל כפרמטר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 dirty="0">
                          <a:effectLst/>
                        </a:rPr>
                        <a:t>String::</a:t>
                      </a:r>
                      <a:r>
                        <a:rPr lang="en-US" sz="1800" u="none" strike="noStrike" dirty="0" err="1">
                          <a:effectLst/>
                        </a:rPr>
                        <a:t>toLowerCase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>
                          <a:effectLst/>
                        </a:rPr>
                        <a:t>str -&gt; str.toLowerCase()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8175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בנאי של מחלקה (ללא פרמטרים)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 dirty="0" err="1">
                          <a:effectLst/>
                        </a:rPr>
                        <a:t>TreeMap</a:t>
                      </a:r>
                      <a:r>
                        <a:rPr lang="en-US" sz="1800" u="none" strike="noStrike" dirty="0">
                          <a:effectLst/>
                        </a:rPr>
                        <a:t>&lt;K,V&gt;::new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 dirty="0">
                          <a:effectLst/>
                        </a:rPr>
                        <a:t>() -&gt; new </a:t>
                      </a:r>
                      <a:r>
                        <a:rPr lang="en-US" sz="1800" u="none" strike="noStrike" dirty="0" err="1">
                          <a:effectLst/>
                        </a:rPr>
                        <a:t>TreeMap</a:t>
                      </a:r>
                      <a:r>
                        <a:rPr lang="en-US" sz="1800" u="none" strike="noStrike" dirty="0">
                          <a:effectLst/>
                        </a:rPr>
                        <a:t>&lt;K,V&gt;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29005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u="none" strike="noStrike" dirty="0">
                          <a:effectLst/>
                        </a:rPr>
                        <a:t>בנאי של מערך (מקבל את גודל המערך)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>
                          <a:effectLst/>
                        </a:rPr>
                        <a:t>int[]::new 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u="none" strike="noStrike" dirty="0" err="1">
                          <a:effectLst/>
                        </a:rPr>
                        <a:t>len</a:t>
                      </a:r>
                      <a:r>
                        <a:rPr lang="en-US" sz="1800" u="none" strike="noStrike" dirty="0">
                          <a:effectLst/>
                        </a:rPr>
                        <a:t> -&gt; new int[</a:t>
                      </a:r>
                      <a:r>
                        <a:rPr lang="en-US" sz="1800" u="none" strike="noStrike" dirty="0" err="1">
                          <a:effectLst/>
                        </a:rPr>
                        <a:t>len</a:t>
                      </a:r>
                      <a:r>
                        <a:rPr lang="en-US" sz="1800" u="none" strike="noStrike" dirty="0">
                          <a:effectLst/>
                        </a:rPr>
                        <a:t>]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905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62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065D-8B94-4BA5-BECC-13B568C9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שימוש ב </a:t>
            </a:r>
            <a:r>
              <a:rPr lang="en-US" dirty="0"/>
              <a:t>lambda</a:t>
            </a:r>
            <a:r>
              <a:rPr lang="he-IL" dirty="0"/>
              <a:t> כתחליף למימוש של ממשק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CF54B-8507-4C7A-9CC1-0F98190CC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DB3-D112-4C49-A967-D8B0E9D23C29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F8D10-7DE1-4B61-930E-79C6E4AD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7AF1C-A7A9-4D55-869A-EFEDE80F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13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1BAA0-56A4-4160-8CA6-BF17CCDF629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dirty="0" err="1"/>
              <a:t>בהנתן</a:t>
            </a:r>
            <a:r>
              <a:rPr lang="he-IL" dirty="0"/>
              <a:t> ממשק שמוצהרת בו פונקציה מופשטת יחידה, ניתן ליצור מופע המממש את הממשק באמצעות </a:t>
            </a:r>
            <a:r>
              <a:rPr lang="en-US" dirty="0"/>
              <a:t>lambda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dirty="0"/>
              <a:t>יכול לחסוך את הצורך בכתיבת מחלקות שמשתמשים בהן באופן חד פעמי.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dirty="0"/>
              <a:t>שימוש בטכניקה זו תהיה שימושית במימוש אפקטיבי של תבניות עיצוב רבות</a:t>
            </a:r>
          </a:p>
          <a:p>
            <a:pPr marL="0" indent="0" algn="l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88637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23EDB-730E-45AF-BDE2-894C0C38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דוגמא: שימוש ב </a:t>
            </a:r>
            <a:r>
              <a:rPr lang="en-US" dirty="0"/>
              <a:t>lambda</a:t>
            </a:r>
            <a:r>
              <a:rPr lang="he-IL" dirty="0"/>
              <a:t> בתבנית עיצוב </a:t>
            </a:r>
            <a:r>
              <a:rPr lang="en-US" dirty="0"/>
              <a:t>Adapter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93A94-19A1-4F53-91D7-0CBBCEDE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E4CD4-AB68-4F2F-A27E-39633BA31256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2E947-76C1-4A46-9625-08294867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1A19E-E41F-4721-80A2-AD6A3E0E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14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80FEC-2227-4EA4-8805-B4EDAACEB0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ישנם מספר סוגי כלי נגינה. לכל כלי נגינה יש פעולה </a:t>
            </a:r>
            <a:r>
              <a:rPr lang="en-US" sz="2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playNote</a:t>
            </a: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0" indent="0">
              <a:buNone/>
            </a:pP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interface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Instrument {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void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playNote(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note);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en-US" altLang="LID4096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ישנם מספר סוגי נגנים. בבנאי של נגן מקבלים כלי נגינה.</a:t>
            </a:r>
            <a:endParaRPr lang="LID4096" altLang="LID4096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l">
              <a:buNone/>
            </a:pP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abstract class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Player {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Instrument 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instrument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Player(Instrument instrument){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instrument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instrument;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}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}</a:t>
            </a:r>
            <a:endParaRPr kumimoji="0" lang="en-US" altLang="LID4096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r" rtl="1">
              <a:buNone/>
            </a:pP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קנינו מחלקה בשם </a:t>
            </a:r>
            <a:r>
              <a:rPr lang="en-US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</a:t>
            </a: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המכילה פעולה </a:t>
            </a:r>
            <a:r>
              <a:rPr lang="en-US" sz="2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makeSound</a:t>
            </a: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המקבלת </a:t>
            </a:r>
            <a:r>
              <a:rPr lang="en-US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</a:t>
            </a: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שפעולתה דומה מאד ל </a:t>
            </a:r>
            <a:r>
              <a:rPr lang="en-US" sz="22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playNote</a:t>
            </a: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אנו רוצים לשלב את </a:t>
            </a:r>
            <a:r>
              <a:rPr lang="en-US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</a:t>
            </a:r>
            <a:r>
              <a:rPr lang="he-IL" sz="2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ככלי נגינה נוסף, אך אסור לנו לשנות את הקוד שלו, או אפילו לקמפל אותו מחדש. </a:t>
            </a:r>
          </a:p>
          <a:p>
            <a:pPr marL="0" indent="0">
              <a:buNone/>
            </a:pPr>
            <a:endParaRPr kumimoji="0" lang="LID4096" altLang="LID4096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l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5171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3EEC-F9A8-421F-AE22-C58E4C6F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שימוש בתבנית </a:t>
            </a:r>
            <a:r>
              <a:rPr lang="en-US" dirty="0"/>
              <a:t>Adapter</a:t>
            </a:r>
            <a:r>
              <a:rPr lang="he-IL" dirty="0"/>
              <a:t> לפני </a:t>
            </a:r>
            <a:r>
              <a:rPr lang="en-US" dirty="0"/>
              <a:t>Java 8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4CA954-EA69-4F07-9910-D81AC4F9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17E6-2434-403C-BA88-D2A63E0BAE05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304A7-7785-417A-9C37-BA479201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A3EBC-3009-4F55-BDEE-5653F88C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15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22048-600C-4AF4-82D3-541222445D7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sz="2800" dirty="0"/>
              <a:t>על מנת לשלב את המחלקה החדשה נצטרך לכתוב מחלקה חדשה:</a:t>
            </a:r>
            <a:endParaRPr lang="en-US" sz="2800" dirty="0"/>
          </a:p>
          <a:p>
            <a:pPr marL="0" indent="0">
              <a:buNone/>
            </a:pP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public class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BassoonAdapter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implements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Instrument{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Bassoon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Tahoma" panose="020B0604030504040204" pitchFamily="34" charset="0"/>
              </a:rPr>
              <a:t>bassoon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;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public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BassoonAdapter(Bassoon bassoon){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   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this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.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Tahoma" panose="020B0604030504040204" pitchFamily="34" charset="0"/>
              </a:rPr>
              <a:t>bassoon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= bassoon;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}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Tahoma" panose="020B0604030504040204" pitchFamily="34" charset="0"/>
              </a:rPr>
              <a:t>@Override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Tahoma" panose="020B0604030504040204" pitchFamily="34" charset="0"/>
              </a:rPr>
              <a:t>   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public void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playNote(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int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note) {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   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Tahoma" panose="020B0604030504040204" pitchFamily="34" charset="0"/>
              </a:rPr>
              <a:t>bassoon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.makeSound(note);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   }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}</a:t>
            </a:r>
            <a:endParaRPr kumimoji="0" lang="he-IL" altLang="LID4096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pPr algn="r" rtl="1">
              <a:buFont typeface="Arial" panose="020B0604020202020204" pitchFamily="34" charset="0"/>
              <a:buChar char="•"/>
            </a:pPr>
            <a:endParaRPr lang="en-US" altLang="LID4096" sz="28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altLang="LID4096" sz="2800" dirty="0"/>
              <a:t>לאחר מכן נשתמש במתאם לאתחול נגן:</a:t>
            </a:r>
            <a:endParaRPr lang="LID4096" altLang="LID4096" sz="2800" dirty="0"/>
          </a:p>
          <a:p>
            <a:pPr marL="0" indent="0">
              <a:buNone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Bassoon bassoon =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new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Bassoon();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JazzPlayer player =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new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JazzPlayer(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</a:rPr>
              <a:t>new </a:t>
            </a: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BassoonAdapter(bassoon))</a:t>
            </a:r>
            <a:r>
              <a:rPr kumimoji="0" lang="en-US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;</a:t>
            </a:r>
            <a:b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36994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CC07-FDFE-45BD-95B9-5A55BC413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שימוש בתבנית </a:t>
            </a:r>
            <a:r>
              <a:rPr lang="en-US" dirty="0"/>
              <a:t>Adapter</a:t>
            </a:r>
            <a:r>
              <a:rPr lang="he-IL" dirty="0"/>
              <a:t> לאחר </a:t>
            </a:r>
            <a:r>
              <a:rPr lang="en-US" dirty="0"/>
              <a:t>Java 8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24DD3-A69B-470D-BF9A-D1B9AD74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42F38-992B-4879-818C-D047EC181D54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9107C6-C28C-4095-9579-BF65D297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B24CC-5A93-4313-9E02-542912D5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16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F64623-01DF-4E34-A4D4-760A2469C61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46888" y="1219200"/>
            <a:ext cx="8439912" cy="4937760"/>
          </a:xfrm>
        </p:spPr>
        <p:txBody>
          <a:bodyPr/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he-IL" dirty="0"/>
              <a:t>אין צורך לממש את ה </a:t>
            </a:r>
            <a:r>
              <a:rPr lang="en-US" dirty="0"/>
              <a:t>Adapter</a:t>
            </a:r>
            <a:r>
              <a:rPr lang="he-IL" dirty="0"/>
              <a:t> במחלקה ייעודית</a:t>
            </a: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he-IL" altLang="LID4096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ahoma" panose="020B0604030504040204" pitchFamily="34" charset="0"/>
            </a:endParaRP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he-IL" altLang="LID4096" dirty="0"/>
              <a:t>שימוש ב </a:t>
            </a:r>
            <a:r>
              <a:rPr lang="en-US" altLang="LID4096" dirty="0"/>
              <a:t>lambda</a:t>
            </a:r>
            <a:r>
              <a:rPr lang="he-IL" altLang="LID4096" dirty="0"/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 bassoon = 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Bassoon();</a:t>
            </a:r>
            <a:b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JazzPlayer player = </a:t>
            </a:r>
            <a:r>
              <a:rPr kumimoji="0" lang="LID4096" altLang="LID4096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JazzPlayer(n -&gt; 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</a:t>
            </a:r>
            <a:r>
              <a:rPr kumimoji="0" lang="LID4096" altLang="LID4096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.makeSound(n));</a:t>
            </a:r>
            <a:endParaRPr lang="LID4096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LID4096" sz="2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LID4096" sz="2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algn="r" rtl="1" fontAlgn="base">
              <a:buFont typeface="Arial" panose="020B0604020202020204" pitchFamily="34" charset="0"/>
              <a:buChar char="•"/>
            </a:pPr>
            <a:r>
              <a:rPr lang="he-IL" altLang="LID4096" dirty="0"/>
              <a:t>שימוש ב </a:t>
            </a:r>
            <a:r>
              <a:rPr lang="en-US" altLang="LID4096" dirty="0"/>
              <a:t>method-reference</a:t>
            </a:r>
            <a:r>
              <a:rPr lang="he-IL" altLang="LID4096" dirty="0"/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/>
              <a:buNone/>
              <a:tabLst/>
              <a:defRPr/>
            </a:pPr>
            <a: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 bassoon = </a:t>
            </a:r>
            <a:r>
              <a:rPr kumimoji="0" lang="LID4096" altLang="LID4096" sz="2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Bassoon();</a:t>
            </a:r>
            <a:b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JazzPlayer player = </a:t>
            </a:r>
            <a:r>
              <a:rPr kumimoji="0" lang="LID4096" altLang="LID4096" sz="2200" b="1" i="0" u="none" strike="noStrike" kern="1200" cap="none" spc="0" normalizeH="0" baseline="0" noProof="0" dirty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</a:t>
            </a:r>
            <a: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JazzPlayer(</a:t>
            </a:r>
            <a: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660E7A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bassoon</a:t>
            </a:r>
            <a:r>
              <a:rPr lang="he-IL" altLang="LID4096" sz="22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::</a:t>
            </a:r>
            <a:r>
              <a:rPr kumimoji="0" lang="LID4096" altLang="LID4096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makeSound);</a:t>
            </a:r>
            <a:endParaRPr kumimoji="0" lang="LID4096" sz="2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/>
              <a:buNone/>
              <a:tabLst/>
              <a:defRPr/>
            </a:pPr>
            <a:endParaRPr kumimoji="0" lang="en-US" altLang="LID4096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indent="0" algn="l" fontAlgn="base">
              <a:buNone/>
            </a:pPr>
            <a:endParaRPr lang="LID4096" altLang="LID4096" dirty="0"/>
          </a:p>
        </p:txBody>
      </p:sp>
    </p:spTree>
    <p:extLst>
      <p:ext uri="{BB962C8B-B14F-4D97-AF65-F5344CB8AC3E}">
        <p14:creationId xmlns:p14="http://schemas.microsoft.com/office/powerpoint/2010/main" val="407424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01AA2-E865-4B38-8296-42A97095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BC1B4D77-FE5B-491A-85F9-2A384B376CF4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42E60-C93B-4B33-BAB5-7EFF89B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71406-BC74-4A7D-A73B-22A1CB5D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17</a:t>
            </a:fld>
            <a:endParaRPr kumimoji="0" lang="he-IL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173CC0E-02B5-4097-80BC-CF65AE4D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he-IL">
                <a:latin typeface="Arial"/>
                <a:cs typeface="Arial"/>
              </a:rPr>
              <a:t>Streams</a:t>
            </a:r>
            <a:endParaRPr lang="he-IL" dirty="0"/>
          </a:p>
        </p:txBody>
      </p:sp>
      <p:pic>
        <p:nvPicPr>
          <p:cNvPr id="3074" name="Picture 2" descr="Image result for java streams">
            <a:extLst>
              <a:ext uri="{FF2B5EF4-FFF2-40B4-BE49-F238E27FC236}">
                <a16:creationId xmlns:a16="http://schemas.microsoft.com/office/drawing/2014/main" id="{D5358317-0ED0-47D9-AB0A-DFB42CB13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969197"/>
            <a:ext cx="5796136" cy="191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683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7D89-19F2-4E73-83C3-A8F6F370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מוטיבציה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63240-AAFA-41CE-88AE-EAE3C8E0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90DBAA13-08C2-46E7-A24A-9C07E25EA306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E751D-D3EC-4DA1-98D9-C0E38117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E9BAB-F97E-4C00-A4C9-1ED997F6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18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6086A-9B35-4D3D-A6E1-7B9FB9C691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ראינו כבר שאוספים מופיעים בכל מקום באפליקציות מבוססות נתונים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ישנן פעולות נפוצות המצריכות מעבר על אוסף וביצוע פעולה מסוימת על כל אחד מהאלמנטים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Streams הם כלי חזק המאפשר קוד תמציתי, ברור ויעיל.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שימוש ב </a:t>
            </a:r>
            <a:r>
              <a:rPr lang="en-US" dirty="0">
                <a:latin typeface="Arial"/>
                <a:cs typeface="Arial"/>
              </a:rPr>
              <a:t>Streams</a:t>
            </a:r>
            <a:r>
              <a:rPr lang="he-IL" dirty="0">
                <a:latin typeface="Arial"/>
                <a:cs typeface="Arial"/>
              </a:rPr>
              <a:t> מבוסס על ביטויי </a:t>
            </a:r>
            <a:r>
              <a:rPr lang="en-US" dirty="0">
                <a:latin typeface="Arial"/>
                <a:cs typeface="Arial"/>
              </a:rPr>
              <a:t>Lambda</a:t>
            </a:r>
            <a:endParaRPr lang="he-IL" dirty="0">
              <a:latin typeface="Arial"/>
              <a:cs typeface="Arial"/>
            </a:endParaRP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מאפשר שרשור </a:t>
            </a:r>
            <a:r>
              <a:rPr lang="en-US" dirty="0">
                <a:latin typeface="Arial"/>
                <a:cs typeface="Arial"/>
              </a:rPr>
              <a:t>(piping)</a:t>
            </a:r>
            <a:r>
              <a:rPr lang="he-IL" dirty="0">
                <a:latin typeface="Arial"/>
                <a:cs typeface="Arial"/>
              </a:rPr>
              <a:t> של פעולות מרובות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מאפשר מקבול ללא צורך בהגדרת </a:t>
            </a:r>
            <a:r>
              <a:rPr lang="en-US" dirty="0">
                <a:latin typeface="Arial"/>
                <a:cs typeface="Arial"/>
              </a:rPr>
              <a:t>threads</a:t>
            </a:r>
            <a:r>
              <a:rPr lang="he-IL" dirty="0">
                <a:latin typeface="Arial"/>
                <a:cs typeface="Arial"/>
              </a:rPr>
              <a:t> באופן מפורש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41629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590D8231-3540-4081-B0AA-D878D8C35D1B}"/>
              </a:ext>
            </a:extLst>
          </p:cNvPr>
          <p:cNvSpPr txBox="1"/>
          <p:nvPr/>
        </p:nvSpPr>
        <p:spPr>
          <a:xfrm>
            <a:off x="4987135" y="1350582"/>
            <a:ext cx="3617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dirty="0"/>
              <a:t>ניתן  להשתמש רק בפעולה סופית אחת</a:t>
            </a:r>
          </a:p>
          <a:p>
            <a:pPr algn="r" rtl="1"/>
            <a:r>
              <a:rPr lang="he-IL" dirty="0"/>
              <a:t>הופך את ה </a:t>
            </a:r>
            <a:r>
              <a:rPr lang="en-US" dirty="0"/>
              <a:t>Stream</a:t>
            </a:r>
            <a:r>
              <a:rPr lang="he-IL" dirty="0"/>
              <a:t> לערך שימושי.</a:t>
            </a:r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BDF83C4-8503-4283-BD2F-402C35792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STREAMS</a:t>
            </a:r>
            <a:endParaRPr lang="he-IL" dirty="0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1546F95-B120-4498-ACAC-6923B0D1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C0907-F68A-4E1D-BBAE-69477DAD93A6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1A5B314-66DC-4DBC-9C54-8E11DAC2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A03BB6-22C9-4DD0-B776-E826C189D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19</a:t>
            </a:fld>
            <a:endParaRPr kumimoji="0" lang="en-US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3FF9F228-82F2-4CE6-9062-65AE758A2D3F}"/>
              </a:ext>
            </a:extLst>
          </p:cNvPr>
          <p:cNvSpPr/>
          <p:nvPr/>
        </p:nvSpPr>
        <p:spPr>
          <a:xfrm>
            <a:off x="628328" y="1234527"/>
            <a:ext cx="11521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Source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FC632BD-45BA-4E08-A98C-7E320BABFB34}"/>
              </a:ext>
            </a:extLst>
          </p:cNvPr>
          <p:cNvSpPr/>
          <p:nvPr/>
        </p:nvSpPr>
        <p:spPr>
          <a:xfrm>
            <a:off x="2336659" y="2780928"/>
            <a:ext cx="3018718" cy="72077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r>
              <a:rPr lang="en-US" dirty="0"/>
              <a:t>Intermediate operation 1</a:t>
            </a:r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ACB5268D-9058-402B-960A-7F2A648B02E7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1204392" y="1882599"/>
            <a:ext cx="0" cy="39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6">
            <a:extLst>
              <a:ext uri="{FF2B5EF4-FFF2-40B4-BE49-F238E27FC236}">
                <a16:creationId xmlns:a16="http://schemas.microsoft.com/office/drawing/2014/main" id="{0720DE96-2D72-46FA-8592-EA3C112455AC}"/>
              </a:ext>
            </a:extLst>
          </p:cNvPr>
          <p:cNvSpPr/>
          <p:nvPr/>
        </p:nvSpPr>
        <p:spPr>
          <a:xfrm>
            <a:off x="628328" y="2280112"/>
            <a:ext cx="11521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Stream1</a:t>
            </a:r>
            <a:endParaRPr lang="he-IL" dirty="0"/>
          </a:p>
        </p:txBody>
      </p:sp>
      <p:sp>
        <p:nvSpPr>
          <p:cNvPr id="14" name="מלבן 6">
            <a:extLst>
              <a:ext uri="{FF2B5EF4-FFF2-40B4-BE49-F238E27FC236}">
                <a16:creationId xmlns:a16="http://schemas.microsoft.com/office/drawing/2014/main" id="{889E61D8-839A-441F-844C-331927C2B609}"/>
              </a:ext>
            </a:extLst>
          </p:cNvPr>
          <p:cNvSpPr/>
          <p:nvPr/>
        </p:nvSpPr>
        <p:spPr>
          <a:xfrm>
            <a:off x="619417" y="3325697"/>
            <a:ext cx="11521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Stream2</a:t>
            </a:r>
            <a:endParaRPr lang="he-IL" dirty="0"/>
          </a:p>
        </p:txBody>
      </p:sp>
      <p:sp>
        <p:nvSpPr>
          <p:cNvPr id="16" name="מלבן 6">
            <a:extLst>
              <a:ext uri="{FF2B5EF4-FFF2-40B4-BE49-F238E27FC236}">
                <a16:creationId xmlns:a16="http://schemas.microsoft.com/office/drawing/2014/main" id="{00179866-9422-4EAC-9C11-A37CEFC7F0F8}"/>
              </a:ext>
            </a:extLst>
          </p:cNvPr>
          <p:cNvSpPr/>
          <p:nvPr/>
        </p:nvSpPr>
        <p:spPr>
          <a:xfrm>
            <a:off x="628328" y="4371282"/>
            <a:ext cx="11521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Stream3</a:t>
            </a:r>
            <a:endParaRPr lang="he-IL" dirty="0"/>
          </a:p>
        </p:txBody>
      </p:sp>
      <p:sp>
        <p:nvSpPr>
          <p:cNvPr id="17" name="מלבן 6">
            <a:extLst>
              <a:ext uri="{FF2B5EF4-FFF2-40B4-BE49-F238E27FC236}">
                <a16:creationId xmlns:a16="http://schemas.microsoft.com/office/drawing/2014/main" id="{356791F3-F74D-45DA-91B6-060F1D3868C5}"/>
              </a:ext>
            </a:extLst>
          </p:cNvPr>
          <p:cNvSpPr/>
          <p:nvPr/>
        </p:nvSpPr>
        <p:spPr>
          <a:xfrm>
            <a:off x="628328" y="5416867"/>
            <a:ext cx="115212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Result</a:t>
            </a:r>
            <a:endParaRPr lang="he-IL" dirty="0"/>
          </a:p>
        </p:txBody>
      </p:sp>
      <p:cxnSp>
        <p:nvCxnSpPr>
          <p:cNvPr id="27" name="מחבר חץ ישר 14">
            <a:extLst>
              <a:ext uri="{FF2B5EF4-FFF2-40B4-BE49-F238E27FC236}">
                <a16:creationId xmlns:a16="http://schemas.microsoft.com/office/drawing/2014/main" id="{D274E19A-9B21-4A77-96A9-1131F1F11F5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1195481" y="2928184"/>
            <a:ext cx="8911" cy="39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חץ ישר 14">
            <a:extLst>
              <a:ext uri="{FF2B5EF4-FFF2-40B4-BE49-F238E27FC236}">
                <a16:creationId xmlns:a16="http://schemas.microsoft.com/office/drawing/2014/main" id="{36DFF824-7756-4CB0-A287-C85FA0AE6854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>
            <a:off x="1195481" y="3973769"/>
            <a:ext cx="8911" cy="39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מחבר חץ ישר 14">
            <a:extLst>
              <a:ext uri="{FF2B5EF4-FFF2-40B4-BE49-F238E27FC236}">
                <a16:creationId xmlns:a16="http://schemas.microsoft.com/office/drawing/2014/main" id="{FE760DE9-3398-4F8B-AEE2-534EBB7A24BE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1204392" y="5019354"/>
            <a:ext cx="0" cy="397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3EBC3B8-E2C0-40E5-9BD2-DF832DB78682}"/>
              </a:ext>
            </a:extLst>
          </p:cNvPr>
          <p:cNvSpPr txBox="1"/>
          <p:nvPr/>
        </p:nvSpPr>
        <p:spPr>
          <a:xfrm>
            <a:off x="2336659" y="1949740"/>
            <a:ext cx="18202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Stream creation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EFB55E-B9A6-4855-A404-FFBFBCACFBB8}"/>
              </a:ext>
            </a:extLst>
          </p:cNvPr>
          <p:cNvSpPr txBox="1"/>
          <p:nvPr/>
        </p:nvSpPr>
        <p:spPr>
          <a:xfrm>
            <a:off x="2336659" y="5085184"/>
            <a:ext cx="4980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Terminal operation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77000D7-590D-4D60-B350-4685E6F72B93}"/>
              </a:ext>
            </a:extLst>
          </p:cNvPr>
          <p:cNvSpPr txBox="1"/>
          <p:nvPr/>
        </p:nvSpPr>
        <p:spPr>
          <a:xfrm>
            <a:off x="2336659" y="4005064"/>
            <a:ext cx="4980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Intermediate operation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D57339-0CEF-4E0D-AAD2-41C4078735FA}"/>
              </a:ext>
            </a:extLst>
          </p:cNvPr>
          <p:cNvSpPr txBox="1"/>
          <p:nvPr/>
        </p:nvSpPr>
        <p:spPr>
          <a:xfrm>
            <a:off x="6228184" y="1778574"/>
            <a:ext cx="1584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Collections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FACBF8-22B7-4DD0-AFA8-C4729E9960C3}"/>
              </a:ext>
            </a:extLst>
          </p:cNvPr>
          <p:cNvSpPr txBox="1"/>
          <p:nvPr/>
        </p:nvSpPr>
        <p:spPr>
          <a:xfrm>
            <a:off x="6228184" y="2408314"/>
            <a:ext cx="801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AAA013-47AB-47C0-B77C-34B241FD09E4}"/>
              </a:ext>
            </a:extLst>
          </p:cNvPr>
          <p:cNvSpPr txBox="1"/>
          <p:nvPr/>
        </p:nvSpPr>
        <p:spPr>
          <a:xfrm>
            <a:off x="6228184" y="3038054"/>
            <a:ext cx="1026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Arrays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7B8965-657B-4DBA-9A05-10FF071E1155}"/>
              </a:ext>
            </a:extLst>
          </p:cNvPr>
          <p:cNvSpPr txBox="1"/>
          <p:nvPr/>
        </p:nvSpPr>
        <p:spPr>
          <a:xfrm>
            <a:off x="6228184" y="3667794"/>
            <a:ext cx="1575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Lines of file</a:t>
            </a:r>
            <a:endParaRPr lang="he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101D6B-6D25-4CDA-83C4-56A27F213DEA}"/>
              </a:ext>
            </a:extLst>
          </p:cNvPr>
          <p:cNvSpPr txBox="1"/>
          <p:nvPr/>
        </p:nvSpPr>
        <p:spPr>
          <a:xfrm>
            <a:off x="6228184" y="4297536"/>
            <a:ext cx="1575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…</a:t>
            </a:r>
            <a:endParaRPr lang="he-IL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6E0F108-87EE-4EC0-8022-3E9ACE1B350C}"/>
              </a:ext>
            </a:extLst>
          </p:cNvPr>
          <p:cNvSpPr/>
          <p:nvPr/>
        </p:nvSpPr>
        <p:spPr>
          <a:xfrm>
            <a:off x="5652120" y="1588491"/>
            <a:ext cx="360040" cy="33526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178A50E-2487-44CE-85A1-4E8DE919CC70}"/>
              </a:ext>
            </a:extLst>
          </p:cNvPr>
          <p:cNvCxnSpPr/>
          <p:nvPr/>
        </p:nvCxnSpPr>
        <p:spPr>
          <a:xfrm>
            <a:off x="1907704" y="1588491"/>
            <a:ext cx="3600400" cy="730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799EAE1-FC01-41B7-94BF-33944373E8C1}"/>
              </a:ext>
            </a:extLst>
          </p:cNvPr>
          <p:cNvSpPr txBox="1"/>
          <p:nvPr/>
        </p:nvSpPr>
        <p:spPr>
          <a:xfrm>
            <a:off x="6377001" y="3014950"/>
            <a:ext cx="15796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filter()</a:t>
            </a:r>
          </a:p>
          <a:p>
            <a:r>
              <a:rPr lang="en-US" sz="2000" dirty="0"/>
              <a:t>map()</a:t>
            </a:r>
          </a:p>
          <a:p>
            <a:r>
              <a:rPr lang="en-US" sz="2000" dirty="0"/>
              <a:t>sorted()</a:t>
            </a:r>
          </a:p>
          <a:p>
            <a:r>
              <a:rPr lang="en-US" sz="2000" dirty="0"/>
              <a:t>distinct()</a:t>
            </a:r>
          </a:p>
          <a:p>
            <a:r>
              <a:rPr lang="en-US" sz="2000" dirty="0" err="1"/>
              <a:t>flatmap</a:t>
            </a:r>
            <a:r>
              <a:rPr lang="en-US" sz="2000" dirty="0"/>
              <a:t>()</a:t>
            </a:r>
          </a:p>
          <a:p>
            <a:r>
              <a:rPr lang="en-US" sz="2000" dirty="0"/>
              <a:t>skip()</a:t>
            </a:r>
          </a:p>
          <a:p>
            <a:r>
              <a:rPr lang="en-US" sz="2000" dirty="0"/>
              <a:t>…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1D88298A-6D59-4F4B-9AF7-111FB94106CE}"/>
              </a:ext>
            </a:extLst>
          </p:cNvPr>
          <p:cNvSpPr/>
          <p:nvPr/>
        </p:nvSpPr>
        <p:spPr>
          <a:xfrm>
            <a:off x="5868144" y="3063305"/>
            <a:ext cx="432048" cy="21382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3A51D0-80CE-4A60-AED9-48692D2AC006}"/>
              </a:ext>
            </a:extLst>
          </p:cNvPr>
          <p:cNvCxnSpPr>
            <a:cxnSpLocks/>
          </p:cNvCxnSpPr>
          <p:nvPr/>
        </p:nvCxnSpPr>
        <p:spPr>
          <a:xfrm>
            <a:off x="4884681" y="3141783"/>
            <a:ext cx="743996" cy="759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66E090-01DA-41CF-8797-5CA371937A6F}"/>
              </a:ext>
            </a:extLst>
          </p:cNvPr>
          <p:cNvCxnSpPr>
            <a:cxnSpLocks/>
          </p:cNvCxnSpPr>
          <p:nvPr/>
        </p:nvCxnSpPr>
        <p:spPr>
          <a:xfrm>
            <a:off x="4860032" y="4247250"/>
            <a:ext cx="734812" cy="156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8B36EA-91BB-479B-B79F-FA85B8B88D59}"/>
              </a:ext>
            </a:extLst>
          </p:cNvPr>
          <p:cNvSpPr txBox="1"/>
          <p:nvPr/>
        </p:nvSpPr>
        <p:spPr>
          <a:xfrm>
            <a:off x="4211960" y="1249612"/>
            <a:ext cx="455971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dirty="0"/>
              <a:t>כל פעולת ביניים מקבלת </a:t>
            </a:r>
            <a:r>
              <a:rPr lang="en-US" dirty="0"/>
              <a:t>Stream</a:t>
            </a:r>
            <a:r>
              <a:rPr lang="he-IL" dirty="0"/>
              <a:t> ומחזירה </a:t>
            </a:r>
            <a:r>
              <a:rPr lang="en-US" dirty="0"/>
              <a:t>Stream</a:t>
            </a:r>
          </a:p>
          <a:p>
            <a:pPr algn="r" rtl="1"/>
            <a:r>
              <a:rPr lang="he-IL" dirty="0"/>
              <a:t>ניתן לשרשר מספר כלשהו של פעולות ביניים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96BC41-0BC5-4E51-81B5-298D67DEE6C9}"/>
              </a:ext>
            </a:extLst>
          </p:cNvPr>
          <p:cNvSpPr txBox="1"/>
          <p:nvPr/>
        </p:nvSpPr>
        <p:spPr>
          <a:xfrm>
            <a:off x="6256815" y="4794668"/>
            <a:ext cx="15796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forEach</a:t>
            </a:r>
            <a:r>
              <a:rPr lang="en-US" dirty="0"/>
              <a:t>()</a:t>
            </a:r>
          </a:p>
          <a:p>
            <a:r>
              <a:rPr lang="en-US" dirty="0"/>
              <a:t>collect()</a:t>
            </a:r>
          </a:p>
          <a:p>
            <a:r>
              <a:rPr lang="en-US" dirty="0"/>
              <a:t>reduce()</a:t>
            </a:r>
          </a:p>
          <a:p>
            <a:r>
              <a:rPr lang="en-US" dirty="0" err="1"/>
              <a:t>anyMatch</a:t>
            </a:r>
            <a:r>
              <a:rPr lang="en-US" dirty="0"/>
              <a:t>()</a:t>
            </a:r>
          </a:p>
          <a:p>
            <a:r>
              <a:rPr lang="en-US" dirty="0"/>
              <a:t>…</a:t>
            </a:r>
          </a:p>
        </p:txBody>
      </p:sp>
      <p:sp>
        <p:nvSpPr>
          <p:cNvPr id="49" name="Left Brace 48">
            <a:extLst>
              <a:ext uri="{FF2B5EF4-FFF2-40B4-BE49-F238E27FC236}">
                <a16:creationId xmlns:a16="http://schemas.microsoft.com/office/drawing/2014/main" id="{9ADAB6CB-EEC8-4FFB-A117-5C6DCF8CB6A9}"/>
              </a:ext>
            </a:extLst>
          </p:cNvPr>
          <p:cNvSpPr/>
          <p:nvPr/>
        </p:nvSpPr>
        <p:spPr>
          <a:xfrm>
            <a:off x="5652151" y="4797152"/>
            <a:ext cx="576033" cy="14773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96F0D0-0BBD-40E8-97FD-D11441FBE7DC}"/>
              </a:ext>
            </a:extLst>
          </p:cNvPr>
          <p:cNvCxnSpPr/>
          <p:nvPr/>
        </p:nvCxnSpPr>
        <p:spPr>
          <a:xfrm>
            <a:off x="4355976" y="5276230"/>
            <a:ext cx="1080120" cy="20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9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20" grpId="0"/>
      <p:bldP spid="20" grpId="1"/>
      <p:bldP spid="22" grpId="0"/>
      <p:bldP spid="22" grpId="1"/>
      <p:bldP spid="24" grpId="0"/>
      <p:bldP spid="24" grpId="1"/>
      <p:bldP spid="26" grpId="0"/>
      <p:bldP spid="26" grpId="1"/>
      <p:bldP spid="30" grpId="0"/>
      <p:bldP spid="30" grpId="1"/>
      <p:bldP spid="13" grpId="0" animBg="1"/>
      <p:bldP spid="13" grpId="1" animBg="1"/>
      <p:bldP spid="34" grpId="0"/>
      <p:bldP spid="34" grpId="1"/>
      <p:bldP spid="31" grpId="0" animBg="1"/>
      <p:bldP spid="31" grpId="1" animBg="1"/>
      <p:bldP spid="44" grpId="0"/>
      <p:bldP spid="44" grpId="1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71F8-E3A9-41BB-818C-0F8BBB66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/>
                <a:cs typeface="Arial"/>
              </a:rPr>
              <a:t>דוגמא: עובדים יקרים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DEA4D-B820-46AE-A70E-C26E5BDE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B66CB0A7-E45E-41F8-BA59-99B639297DCB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23AFF-C834-4D4B-9822-37076CEF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D2B582-4FF1-4B8C-8848-281AC73C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20</a:t>
            </a:fld>
            <a:endParaRPr kumimoji="0"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372EEA2-F106-4472-B032-85E986FFC2E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algn="r" rtl="1">
                  <a:buFont typeface="Wingdings 3" panose="05040102010807070707" pitchFamily="18" charset="2"/>
                  <a:buChar char=""/>
                </a:pPr>
                <a:r>
                  <a:rPr lang="he-IL" dirty="0">
                    <a:latin typeface="Arial"/>
                    <a:cs typeface="Arial"/>
                  </a:rPr>
                  <a:t>יש לנו קובץ (בתיקייה מסוימת) המכיל את כל הנתונים של כל העובדים, כולל השם, המשכורת והדרגה.</a:t>
                </a:r>
              </a:p>
              <a:p>
                <a:pPr algn="r" rtl="1">
                  <a:buFont typeface="Wingdings 3" panose="05040102010807070707" pitchFamily="18" charset="2"/>
                  <a:buChar char=""/>
                </a:pPr>
                <a:r>
                  <a:rPr lang="he-IL" dirty="0">
                    <a:latin typeface="Arial"/>
                    <a:cs typeface="Arial"/>
                  </a:rPr>
                  <a:t>נרצה לקבל רשימה מעוצבת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>
                    <a:latin typeface="Arial"/>
                    <a:cs typeface="Arial"/>
                  </a:rPr>
                  <a:t> המשכורות הגבוהות ביותר עבור עובדים בדרגה הנמוכה מ-MANAGER</a:t>
                </a:r>
              </a:p>
              <a:p>
                <a:pPr algn="r" rtl="1">
                  <a:buFont typeface="Wingdings 3" panose="05040102010807070707" pitchFamily="18" charset="2"/>
                  <a:buChar char=""/>
                </a:pPr>
                <a:r>
                  <a:rPr lang="he-IL" dirty="0">
                    <a:latin typeface="Arial"/>
                    <a:cs typeface="Arial"/>
                  </a:rPr>
                  <a:t>עם לולאות או iterators, הדבר יצריך כמות קוד משמעותית.</a:t>
                </a:r>
              </a:p>
              <a:p>
                <a:pPr algn="r" rtl="1">
                  <a:buFont typeface="Wingdings 3" panose="05040102010807070707" pitchFamily="18" charset="2"/>
                  <a:buChar char=""/>
                </a:pPr>
                <a:r>
                  <a:rPr lang="he-IL" dirty="0">
                    <a:latin typeface="Arial"/>
                    <a:cs typeface="Arial"/>
                  </a:rPr>
                  <a:t>עם Streams ניתן לעשות זאת בפקודה אחת!</a:t>
                </a:r>
                <a:endParaRPr lang="he-I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372EEA2-F106-4472-B032-85E986FFC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96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4B59-06D2-4743-811A-08D5421A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שלבי הפתרון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D7E2A-FB2F-4328-8C38-4124E24F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3C04D-B22B-42AF-96A7-A11E2855A3D9}" type="datetime12">
              <a:rPr lang="he-IL" smtClean="0"/>
              <a:t>19/04/2026 10:25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04FB0-C20D-4CE9-AEDE-489D4513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מונחי עצמים מתקדם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2D156-9317-4515-A26B-1D125B72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21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FA8324-9F91-48F0-9A02-ECF4E77F7E6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dirty="0"/>
                  <a:t>קריאת השורות מהקובץ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dirty="0"/>
                  <a:t>המרת כל שורה לאובייקט מסוג עובד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dirty="0"/>
                  <a:t>סינון העובדים על פי דרגה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dirty="0"/>
                  <a:t>מיון על פי סדר משכורות יורד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dirty="0"/>
                  <a:t>בחירת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he-IL" dirty="0"/>
                  <a:t> העובדים הראשונים</a:t>
                </a:r>
              </a:p>
              <a:p>
                <a:pPr algn="r" rtl="1">
                  <a:buFont typeface="Arial" panose="020B0604020202020204" pitchFamily="34" charset="0"/>
                  <a:buChar char="•"/>
                </a:pPr>
                <a:r>
                  <a:rPr lang="he-IL" dirty="0"/>
                  <a:t>בניית מחרוזת תוצאה</a:t>
                </a: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EFA8324-9F91-48F0-9A02-ECF4E77F7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737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EC20-2B90-4335-94DA-1E287821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פתרון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9E73D-3973-449A-80F9-766420958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810A2414-0153-4A9A-9080-7C33B3D3FA49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917D0-C679-45A1-9DE9-CEB53F1D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8405E-6478-442F-8E28-304B7B0F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22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612E4-DDAC-4AE6-9BAA-4CC5FF1F5E7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9144000" cy="4937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highestSalaryString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Files.</a:t>
            </a:r>
            <a:r>
              <a:rPr lang="en-US" sz="2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lines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Paths.get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i="1" dirty="0">
                <a:solidFill>
                  <a:srgbClr val="6A3E3E"/>
                </a:solidFill>
                <a:latin typeface="Consolas" panose="020B0609020204030204" pitchFamily="49" charset="0"/>
              </a:rPr>
              <a:t>path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.map(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-&gt; </a:t>
            </a:r>
            <a:r>
              <a:rPr lang="en-US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Worker(</a:t>
            </a:r>
            <a:r>
              <a:rPr lang="en-US" sz="2000" b="1" dirty="0">
                <a:solidFill>
                  <a:srgbClr val="6A3E3E"/>
                </a:solidFill>
                <a:latin typeface="Consolas" panose="020B0609020204030204" pitchFamily="49" charset="0"/>
              </a:rPr>
              <a:t>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.filter(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-&gt; (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00C0"/>
                </a:solidFill>
                <a:latin typeface="Consolas" panose="020B0609020204030204" pitchFamily="49" charset="0"/>
              </a:rPr>
              <a:t>level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.compareTo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Level.</a:t>
            </a:r>
            <a:r>
              <a:rPr lang="en-US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MANAGER</a:t>
            </a:r>
            <a:r>
              <a:rPr lang="en-US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)&lt;0))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.sorted(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Comparator.</a:t>
            </a:r>
            <a:r>
              <a:rPr lang="en-US" sz="2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comparing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(Worker::</a:t>
            </a:r>
            <a:r>
              <a:rPr lang="en-US" sz="2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getSalary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).reversed())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.limit(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.map(</a:t>
            </a:r>
            <a:r>
              <a:rPr lang="en-US" sz="2000" dirty="0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-&gt; 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.getName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()+</a:t>
            </a:r>
            <a:r>
              <a:rPr lang="en-US" sz="2000" dirty="0">
                <a:solidFill>
                  <a:srgbClr val="2A00FF"/>
                </a:solidFill>
                <a:latin typeface="Consolas" panose="020B0609020204030204" pitchFamily="49" charset="0"/>
              </a:rPr>
              <a:t>":"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dirty="0" err="1">
                <a:solidFill>
                  <a:srgbClr val="6A3E3E"/>
                </a:solidFill>
                <a:latin typeface="Consolas" panose="020B0609020204030204" pitchFamily="49" charset="0"/>
              </a:rPr>
              <a:t>w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.getSalary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.collect(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Collectors.</a:t>
            </a:r>
            <a:r>
              <a:rPr lang="en-US" sz="2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joining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", "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"["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"]"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endParaRPr lang="he-IL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2E9A7C-147E-481A-8EB7-3A3898B04B93}"/>
              </a:ext>
            </a:extLst>
          </p:cNvPr>
          <p:cNvSpPr/>
          <p:nvPr/>
        </p:nvSpPr>
        <p:spPr>
          <a:xfrm>
            <a:off x="2195736" y="5804869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[Zrubavel:17, Victor:16, John:15]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102AA-6B62-43DD-93A3-1334D7CD4AE8}"/>
              </a:ext>
            </a:extLst>
          </p:cNvPr>
          <p:cNvSpPr txBox="1"/>
          <p:nvPr/>
        </p:nvSpPr>
        <p:spPr>
          <a:xfrm>
            <a:off x="5148064" y="811768"/>
            <a:ext cx="194421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rgbClr val="FF0000"/>
                </a:solidFill>
                <a:latin typeface="Arial"/>
                <a:cs typeface="Arial"/>
              </a:rPr>
              <a:t>מקור Stream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61395-8E6F-4DDA-9BD6-CEA1A6DF99A2}"/>
              </a:ext>
            </a:extLst>
          </p:cNvPr>
          <p:cNvSpPr txBox="1"/>
          <p:nvPr/>
        </p:nvSpPr>
        <p:spPr>
          <a:xfrm>
            <a:off x="3635896" y="1577605"/>
            <a:ext cx="21158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rgbClr val="00B050"/>
                </a:solidFill>
                <a:latin typeface="Arial"/>
                <a:cs typeface="Arial"/>
              </a:rPr>
              <a:t>ביטוי Lambda</a:t>
            </a:r>
            <a:endParaRPr lang="he-IL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F8EA2F-27D4-439A-92DE-12CA424EF061}"/>
              </a:ext>
            </a:extLst>
          </p:cNvPr>
          <p:cNvSpPr txBox="1"/>
          <p:nvPr/>
        </p:nvSpPr>
        <p:spPr>
          <a:xfrm>
            <a:off x="6573873" y="1700808"/>
            <a:ext cx="259228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rgbClr val="7030A0"/>
                </a:solidFill>
                <a:latin typeface="Arial"/>
                <a:cs typeface="Arial"/>
              </a:rPr>
              <a:t>פעולות ביניים </a:t>
            </a:r>
            <a:endParaRPr lang="he-IL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ADB10-E368-45A5-B944-FEB915BE05FB}"/>
              </a:ext>
            </a:extLst>
          </p:cNvPr>
          <p:cNvSpPr txBox="1"/>
          <p:nvPr/>
        </p:nvSpPr>
        <p:spPr>
          <a:xfrm>
            <a:off x="6452704" y="3560693"/>
            <a:ext cx="259228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פעולה סופית</a:t>
            </a:r>
            <a:endParaRPr lang="he-IL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12F73-9860-4AFC-B8A0-23D547D6E2E6}"/>
              </a:ext>
            </a:extLst>
          </p:cNvPr>
          <p:cNvSpPr/>
          <p:nvPr/>
        </p:nvSpPr>
        <p:spPr>
          <a:xfrm>
            <a:off x="4139952" y="1219201"/>
            <a:ext cx="3960440" cy="396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B72515-1406-498A-9B1F-D5F63D3A284E}"/>
              </a:ext>
            </a:extLst>
          </p:cNvPr>
          <p:cNvSpPr/>
          <p:nvPr/>
        </p:nvSpPr>
        <p:spPr>
          <a:xfrm>
            <a:off x="1175735" y="1668230"/>
            <a:ext cx="2389581" cy="3257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5DC805-A5F2-48EC-9BC3-412D7EFF652A}"/>
              </a:ext>
            </a:extLst>
          </p:cNvPr>
          <p:cNvSpPr/>
          <p:nvPr/>
        </p:nvSpPr>
        <p:spPr>
          <a:xfrm>
            <a:off x="457200" y="1653383"/>
            <a:ext cx="8651304" cy="184762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9BD423-4CFA-4438-AE24-5B0566B28629}"/>
              </a:ext>
            </a:extLst>
          </p:cNvPr>
          <p:cNvSpPr/>
          <p:nvPr/>
        </p:nvSpPr>
        <p:spPr>
          <a:xfrm>
            <a:off x="457200" y="3520566"/>
            <a:ext cx="6347048" cy="40945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F4B3FF-E4BA-4160-BF5E-D02D8E962965}"/>
              </a:ext>
            </a:extLst>
          </p:cNvPr>
          <p:cNvSpPr/>
          <p:nvPr/>
        </p:nvSpPr>
        <p:spPr>
          <a:xfrm>
            <a:off x="4556957" y="2403027"/>
            <a:ext cx="2389581" cy="3257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ADE31-E9D2-433A-B6F4-368F7975E70A}"/>
              </a:ext>
            </a:extLst>
          </p:cNvPr>
          <p:cNvSpPr txBox="1"/>
          <p:nvPr/>
        </p:nvSpPr>
        <p:spPr>
          <a:xfrm>
            <a:off x="4920343" y="2670512"/>
            <a:ext cx="211585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en-US" dirty="0">
                <a:solidFill>
                  <a:srgbClr val="00B050"/>
                </a:solidFill>
                <a:latin typeface="Arial"/>
                <a:cs typeface="Arial"/>
              </a:rPr>
              <a:t>Method reference</a:t>
            </a:r>
            <a:endParaRPr lang="he-IL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04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29" grpId="0" animBg="1"/>
      <p:bldP spid="30" grpId="0" animBg="1"/>
      <p:bldP spid="31" grpId="0" animBg="1"/>
      <p:bldP spid="32" grpId="0" animBg="1"/>
      <p:bldP spid="16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A17C9-1892-4951-A4C1-479B0A6C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מקורות Stream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4654C-32D7-4658-AAE7-C97FF8DE1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F295289B-87DC-41DC-89FD-4FD6A5E69A0E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B8C8D-2B30-4217-B127-774083B9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E34FF-BBFC-4924-A675-ADFB99F1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23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3E801-F195-462B-85D6-AC76A6CE34B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יצירת Stream ממערך</a:t>
            </a:r>
          </a:p>
          <a:p>
            <a:pPr lvl="1"/>
            <a:r>
              <a:rPr lang="en-US" dirty="0"/>
              <a:t>String[] </a:t>
            </a:r>
            <a:r>
              <a:rPr lang="en-US" dirty="0" err="1"/>
              <a:t>arr</a:t>
            </a:r>
            <a:r>
              <a:rPr lang="en-US" dirty="0"/>
              <a:t> = new String[]{"a", "b", "c"};</a:t>
            </a:r>
          </a:p>
          <a:p>
            <a:pPr lvl="1"/>
            <a:r>
              <a:rPr lang="en-US" dirty="0"/>
              <a:t>Stream&lt;String&gt; stream = </a:t>
            </a:r>
            <a:r>
              <a:rPr lang="en-US" dirty="0" err="1"/>
              <a:t>Arrays.stream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);</a:t>
            </a:r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אתחול ישיר</a:t>
            </a:r>
          </a:p>
          <a:p>
            <a:pPr lvl="1"/>
            <a:r>
              <a:rPr lang="en-US" dirty="0"/>
              <a:t>Stream&lt;String&gt; stream = </a:t>
            </a:r>
            <a:r>
              <a:rPr lang="en-US" dirty="0" err="1"/>
              <a:t>Stream.of</a:t>
            </a:r>
            <a:r>
              <a:rPr lang="en-US" dirty="0"/>
              <a:t>("a", "b", "c");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קריאת שורות מקובץ</a:t>
            </a:r>
          </a:p>
          <a:p>
            <a:pPr lvl="1"/>
            <a:r>
              <a:rPr lang="en-US" dirty="0"/>
              <a:t>Stream&lt;String&gt; stream = </a:t>
            </a:r>
            <a:r>
              <a:rPr lang="en-US" dirty="0" err="1"/>
              <a:t>Files.lines</a:t>
            </a:r>
            <a:r>
              <a:rPr lang="en-US" dirty="0"/>
              <a:t>(</a:t>
            </a:r>
            <a:r>
              <a:rPr lang="en-US" dirty="0" err="1"/>
              <a:t>Paths.get</a:t>
            </a:r>
            <a:r>
              <a:rPr lang="en-US" dirty="0"/>
              <a:t>(path));</a:t>
            </a:r>
          </a:p>
          <a:p>
            <a:pPr rtl="1"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השיטה הנפוצה ביותר: המרה של כל אוסף שהוא ל-Stream</a:t>
            </a:r>
          </a:p>
          <a:p>
            <a:pPr lvl="1"/>
            <a:r>
              <a:rPr lang="en-US" dirty="0"/>
              <a:t>Stream&lt;String&gt; stream = </a:t>
            </a:r>
            <a:r>
              <a:rPr lang="en-US" dirty="0" err="1"/>
              <a:t>myList.stream</a:t>
            </a:r>
            <a:r>
              <a:rPr lang="en-US" dirty="0"/>
              <a:t>();</a:t>
            </a:r>
          </a:p>
          <a:p>
            <a:pPr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5781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6472-DBE9-4598-A4F0-5337560C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/>
                <a:cs typeface="Arial"/>
              </a:rPr>
              <a:t>פעולות סופיות פשוטות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07863F-CB61-4C0F-9AEF-8EE85495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7292E7AD-0849-4A78-8108-55641CF757E1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36D4AA-818A-412C-9F87-AA0629AA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E7810-4162-405E-A371-4FB60D25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24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40D53-BF0A-4EFC-9B95-2D1DE308EC2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6368" y="1418590"/>
            <a:ext cx="8291264" cy="4937760"/>
          </a:xfrm>
        </p:spPr>
        <p:txBody>
          <a:bodyPr>
            <a:normAutofit lnSpcReduction="10000"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קלט: Stream, פלט: ערך יחיד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ניתן להפעיל פעולה סופית אחת בלבד על </a:t>
            </a:r>
            <a:r>
              <a:rPr lang="he-IL" dirty="0" err="1">
                <a:latin typeface="Arial"/>
                <a:cs typeface="Arial"/>
              </a:rPr>
              <a:t>Stream</a:t>
            </a:r>
            <a:r>
              <a:rPr lang="he-IL" dirty="0">
                <a:latin typeface="Arial"/>
                <a:cs typeface="Arial"/>
              </a:rPr>
              <a:t>. לדוגמא:</a:t>
            </a:r>
          </a:p>
          <a:p>
            <a:pPr marL="0" indent="0" algn="l">
              <a:buNone/>
            </a:pPr>
            <a:r>
              <a:rPr lang="he-IL" dirty="0">
                <a:latin typeface="Arial"/>
                <a:cs typeface="Arial"/>
              </a:rPr>
              <a:t>Stream&lt;String&gt; stream = Stream.of("a", "b", "c ", "a");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לאחר מכן, אחד מהבאים:</a:t>
            </a:r>
            <a:endParaRPr lang="he-IL" dirty="0"/>
          </a:p>
          <a:p>
            <a:pPr algn="r" rtl="1">
              <a:lnSpc>
                <a:spcPts val="1400"/>
              </a:lnSpc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ביצוע פעולה על כל אחד מהאלמנטים</a:t>
            </a:r>
          </a:p>
          <a:p>
            <a:pPr lvl="1">
              <a:lnSpc>
                <a:spcPts val="1400"/>
              </a:lnSpc>
              <a:spcBef>
                <a:spcPts val="600"/>
              </a:spcBef>
            </a:pPr>
            <a:r>
              <a:rPr lang="en-US" dirty="0" err="1"/>
              <a:t>stream.forEach</a:t>
            </a:r>
            <a:r>
              <a:rPr lang="en-US" dirty="0"/>
              <a:t>(e -&gt; </a:t>
            </a:r>
            <a:r>
              <a:rPr lang="en-US" dirty="0" err="1"/>
              <a:t>System.out.println</a:t>
            </a:r>
            <a:r>
              <a:rPr lang="en-US" dirty="0"/>
              <a:t>(e));</a:t>
            </a:r>
          </a:p>
          <a:p>
            <a:pPr rtl="1">
              <a:lnSpc>
                <a:spcPts val="1400"/>
              </a:lnSpc>
              <a:spcBef>
                <a:spcPts val="600"/>
              </a:spcBef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lnSpc>
                <a:spcPts val="1400"/>
              </a:lnSpc>
              <a:spcBef>
                <a:spcPts val="600"/>
              </a:spcBef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ספירה</a:t>
            </a:r>
          </a:p>
          <a:p>
            <a:pPr lvl="1" rtl="1">
              <a:lnSpc>
                <a:spcPts val="1400"/>
              </a:lnSpc>
              <a:buFont typeface="Wingdings 3" panose="05040102010807070707" pitchFamily="18" charset="2"/>
              <a:buChar char=""/>
            </a:pPr>
            <a:endParaRPr lang="he-IL" dirty="0"/>
          </a:p>
          <a:p>
            <a:pPr lvl="1">
              <a:lnSpc>
                <a:spcPts val="1000"/>
              </a:lnSpc>
              <a:spcBef>
                <a:spcPts val="600"/>
              </a:spcBef>
            </a:pPr>
            <a:r>
              <a:rPr lang="en-US" dirty="0"/>
              <a:t>long count = </a:t>
            </a:r>
            <a:r>
              <a:rPr lang="en-US" dirty="0" err="1"/>
              <a:t>stream.count</a:t>
            </a:r>
            <a:r>
              <a:rPr lang="en-US" dirty="0"/>
              <a:t>(); //counts the number of elements</a:t>
            </a:r>
          </a:p>
          <a:p>
            <a:pPr rtl="1">
              <a:lnSpc>
                <a:spcPts val="1000"/>
              </a:lnSpc>
              <a:spcBef>
                <a:spcPts val="600"/>
              </a:spcBef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lnSpc>
                <a:spcPts val="1000"/>
              </a:lnSpc>
              <a:spcBef>
                <a:spcPts val="600"/>
              </a:spcBef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החזרת האלמנט הראשון/אלמנט כלשהו</a:t>
            </a:r>
            <a:endParaRPr lang="he-IL" dirty="0"/>
          </a:p>
          <a:p>
            <a:pPr lvl="1">
              <a:spcBef>
                <a:spcPts val="600"/>
              </a:spcBef>
            </a:pPr>
            <a:r>
              <a:rPr lang="en-US" dirty="0"/>
              <a:t>String </a:t>
            </a:r>
            <a:r>
              <a:rPr lang="en-US" dirty="0" err="1"/>
              <a:t>string</a:t>
            </a:r>
            <a:r>
              <a:rPr lang="en-US" dirty="0"/>
              <a:t> = </a:t>
            </a:r>
            <a:r>
              <a:rPr lang="en-US" dirty="0" err="1"/>
              <a:t>stream.findFirst</a:t>
            </a:r>
            <a:r>
              <a:rPr lang="en-US" dirty="0"/>
              <a:t>().</a:t>
            </a:r>
            <a:r>
              <a:rPr lang="en-US" dirty="0" err="1"/>
              <a:t>orElse</a:t>
            </a:r>
            <a:r>
              <a:rPr lang="en-US" dirty="0"/>
              <a:t>(null);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String </a:t>
            </a:r>
            <a:r>
              <a:rPr lang="en-US" dirty="0" err="1"/>
              <a:t>string</a:t>
            </a:r>
            <a:r>
              <a:rPr lang="en-US" dirty="0"/>
              <a:t> = </a:t>
            </a:r>
            <a:r>
              <a:rPr lang="en-US" dirty="0" err="1"/>
              <a:t>stream.findAny</a:t>
            </a:r>
            <a:r>
              <a:rPr lang="en-US" dirty="0"/>
              <a:t>().</a:t>
            </a:r>
            <a:r>
              <a:rPr lang="en-US" dirty="0" err="1"/>
              <a:t>orElse</a:t>
            </a:r>
            <a:r>
              <a:rPr lang="en-US" dirty="0"/>
              <a:t>(null);</a:t>
            </a:r>
          </a:p>
          <a:p>
            <a:pPr marL="274320" lvl="1" indent="0" rtl="1">
              <a:spcBef>
                <a:spcPts val="600"/>
              </a:spcBef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4218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E304-24F1-4699-A9D3-B9A5B4ED3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/>
                <a:cs typeface="Arial"/>
              </a:rPr>
              <a:t>פעולות סופיות עם </a:t>
            </a:r>
            <a:r>
              <a:rPr lang="he-IL" dirty="0" err="1">
                <a:latin typeface="Arial"/>
                <a:cs typeface="Arial"/>
              </a:rPr>
              <a:t>פרידקטים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FF2BF-81BF-4FA1-BCC6-EFF1A88F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F039773C-6ED4-4729-B857-ABD05AFEB8AD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AD86C-CF30-451D-8F82-930DD69F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FE0AE-EB4B-4393-9E4E-D61668F4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25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DC71A-A2EE-47E1-9F4D-702BAA0770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937760"/>
          </a:xfrm>
        </p:spPr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</a:t>
            </a:r>
            <a:r>
              <a:rPr lang="he-IL" dirty="0" err="1">
                <a:latin typeface="Arial"/>
                <a:cs typeface="Arial"/>
              </a:rPr>
              <a:t>boolean</a:t>
            </a:r>
            <a:r>
              <a:rPr lang="he-IL" dirty="0">
                <a:latin typeface="Arial"/>
                <a:cs typeface="Arial"/>
              </a:rPr>
              <a:t> האם אחד/כל/אף לא אחד מהאלמנטים מכיל את האות "h"</a:t>
            </a:r>
          </a:p>
          <a:p>
            <a:pPr lvl="1"/>
            <a:r>
              <a:rPr lang="en-US" dirty="0" err="1"/>
              <a:t>list.stream</a:t>
            </a:r>
            <a:r>
              <a:rPr lang="en-US" dirty="0"/>
              <a:t>().</a:t>
            </a:r>
            <a:r>
              <a:rPr lang="en-US" dirty="0" err="1"/>
              <a:t>anyMatch</a:t>
            </a:r>
            <a:r>
              <a:rPr lang="en-US" dirty="0"/>
              <a:t>(element -&gt; </a:t>
            </a:r>
            <a:r>
              <a:rPr lang="en-US" dirty="0" err="1"/>
              <a:t>element.contains</a:t>
            </a:r>
            <a:r>
              <a:rPr lang="en-US" dirty="0"/>
              <a:t>("h"))</a:t>
            </a:r>
          </a:p>
          <a:p>
            <a:pPr lvl="1"/>
            <a:r>
              <a:rPr lang="en-US" dirty="0" err="1"/>
              <a:t>list.stream</a:t>
            </a:r>
            <a:r>
              <a:rPr lang="en-US" dirty="0"/>
              <a:t>().</a:t>
            </a:r>
            <a:r>
              <a:rPr lang="en-US" dirty="0" err="1"/>
              <a:t>allMatch</a:t>
            </a:r>
            <a:r>
              <a:rPr lang="en-US" dirty="0"/>
              <a:t>(element -&gt; </a:t>
            </a:r>
            <a:r>
              <a:rPr lang="en-US" dirty="0" err="1"/>
              <a:t>element.contains</a:t>
            </a:r>
            <a:r>
              <a:rPr lang="en-US" dirty="0"/>
              <a:t>("h"))</a:t>
            </a:r>
          </a:p>
          <a:p>
            <a:pPr lvl="1"/>
            <a:r>
              <a:rPr lang="en-US" dirty="0" err="1"/>
              <a:t>list.stream</a:t>
            </a:r>
            <a:r>
              <a:rPr lang="en-US" dirty="0"/>
              <a:t>().</a:t>
            </a:r>
            <a:r>
              <a:rPr lang="en-US" dirty="0" err="1"/>
              <a:t>noneMatch</a:t>
            </a:r>
            <a:r>
              <a:rPr lang="en-US" dirty="0"/>
              <a:t>(element -&gt; </a:t>
            </a:r>
            <a:r>
              <a:rPr lang="en-US" dirty="0" err="1"/>
              <a:t>element.contains</a:t>
            </a:r>
            <a:r>
              <a:rPr lang="en-US" dirty="0"/>
              <a:t>("h"))</a:t>
            </a:r>
          </a:p>
          <a:p>
            <a:pPr rtl="1">
              <a:buFont typeface="Wingdings 3" panose="05040102010807070707" pitchFamily="18" charset="2"/>
              <a:buChar char=""/>
            </a:pPr>
            <a:endParaRPr lang="he-IL" dirty="0"/>
          </a:p>
          <a:p>
            <a:pPr lvl="1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91089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006C-9A38-4752-8B5D-C05F132B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/>
                <a:cs typeface="Arial"/>
              </a:rPr>
              <a:t>פעולות סופיות עם </a:t>
            </a:r>
            <a:r>
              <a:rPr lang="he-IL" dirty="0" err="1">
                <a:latin typeface="Arial"/>
                <a:cs typeface="Arial"/>
              </a:rPr>
              <a:t>Comparator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F54BD4-8411-497D-AAC3-2A141E41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E441C18A-13F2-4473-B20C-8946A40803D4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1EC0E-019E-4AAA-A92C-6E31B780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005E4-50E7-48D0-9BF4-2D916678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26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65901-2E80-48F8-B0A5-AB66C063374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6328" y="1280795"/>
            <a:ext cx="9011344" cy="4937760"/>
          </a:xfrm>
        </p:spPr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את ה-String הארוך ביותר</a:t>
            </a:r>
          </a:p>
          <a:p>
            <a:pPr marL="274320" lvl="1" indent="0">
              <a:buNone/>
            </a:pPr>
            <a:r>
              <a:rPr lang="en-US" dirty="0"/>
              <a:t>String longest = stream</a:t>
            </a:r>
          </a:p>
          <a:p>
            <a:pPr marL="274320" lvl="1" indent="0">
              <a:buNone/>
            </a:pPr>
            <a:r>
              <a:rPr lang="en-US" dirty="0"/>
              <a:t>     .max(</a:t>
            </a:r>
            <a:r>
              <a:rPr lang="en-US" dirty="0" err="1"/>
              <a:t>Comparator.</a:t>
            </a:r>
            <a:r>
              <a:rPr lang="en-US" i="1" dirty="0" err="1"/>
              <a:t>comparing</a:t>
            </a:r>
            <a:r>
              <a:rPr lang="en-US" i="1" dirty="0"/>
              <a:t>(String::length))</a:t>
            </a:r>
            <a:r>
              <a:rPr lang="en-US" dirty="0"/>
              <a:t>.</a:t>
            </a:r>
            <a:r>
              <a:rPr lang="en-US" dirty="0" err="1"/>
              <a:t>orElse</a:t>
            </a:r>
            <a:r>
              <a:rPr lang="en-US" dirty="0"/>
              <a:t>("");</a:t>
            </a:r>
            <a:endParaRPr lang="en-US" i="1" dirty="0"/>
          </a:p>
          <a:p>
            <a:pPr lvl="1" rtl="1">
              <a:buFont typeface="Wingdings 3" panose="05040102010807070707" pitchFamily="18" charset="2"/>
              <a:buChar char=""/>
            </a:pPr>
            <a:endParaRPr lang="he-IL" i="1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באמצעות Comparator מותאם אישית (BiFunction): מוצא את המילה בעלת האות האחרונה המינימלית</a:t>
            </a:r>
          </a:p>
          <a:p>
            <a:pPr marL="274320" lvl="1" indent="0">
              <a:buNone/>
            </a:pPr>
            <a:r>
              <a:rPr lang="en-US" dirty="0"/>
              <a:t>String </a:t>
            </a:r>
            <a:r>
              <a:rPr lang="en-US" dirty="0" err="1"/>
              <a:t>largestSuffixLetter</a:t>
            </a:r>
            <a:r>
              <a:rPr lang="en-US" dirty="0"/>
              <a:t> = stream</a:t>
            </a:r>
          </a:p>
          <a:p>
            <a:pPr marL="274320" lvl="1" indent="0">
              <a:buNone/>
            </a:pPr>
            <a:r>
              <a:rPr lang="en-US" dirty="0"/>
              <a:t>     .min((s1, s2) -&gt; </a:t>
            </a:r>
          </a:p>
          <a:p>
            <a:pPr marL="274320" lvl="1" indent="0">
              <a:buNone/>
            </a:pPr>
            <a:r>
              <a:rPr lang="en-US" dirty="0"/>
              <a:t>              s1. </a:t>
            </a:r>
            <a:r>
              <a:rPr lang="en-US" dirty="0" err="1"/>
              <a:t>charAt</a:t>
            </a:r>
            <a:r>
              <a:rPr lang="en-US" dirty="0"/>
              <a:t>(s1.length() - 1) – s2. </a:t>
            </a:r>
            <a:r>
              <a:rPr lang="en-US" dirty="0" err="1"/>
              <a:t>charAt</a:t>
            </a:r>
            <a:r>
              <a:rPr lang="en-US"/>
              <a:t>(s2.</a:t>
            </a:r>
            <a:r>
              <a:rPr lang="en-US" dirty="0"/>
              <a:t>length() - 1))</a:t>
            </a:r>
          </a:p>
          <a:p>
            <a:pPr marL="274320" lvl="1" indent="0">
              <a:buNone/>
            </a:pPr>
            <a:r>
              <a:rPr lang="en-US" dirty="0"/>
              <a:t>     .</a:t>
            </a:r>
            <a:r>
              <a:rPr lang="en-US" dirty="0" err="1"/>
              <a:t>orElse</a:t>
            </a:r>
            <a:r>
              <a:rPr lang="en-US" dirty="0"/>
              <a:t>("");</a:t>
            </a:r>
            <a:endParaRPr lang="en-US" i="1" dirty="0"/>
          </a:p>
          <a:p>
            <a:pPr rtl="1"/>
            <a:endParaRPr lang="he-IL" dirty="0"/>
          </a:p>
          <a:p>
            <a:pPr lvl="1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1020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D2FE6-83E3-4FF8-B557-54DCA343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Reduce function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197EE-29F0-42E2-A8DD-28D2F46D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F3FF41D9-CDC7-4F53-895B-5FC209025044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93E891-49F5-4EE5-9D88-8AFAF89F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26FCF-B545-4134-830F-5EF1BA64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27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D46504-C040-49F0-A748-BC6E1CBC9BB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מקבל </a:t>
            </a:r>
            <a:r>
              <a:rPr lang="he-IL" dirty="0" err="1">
                <a:latin typeface="Arial"/>
                <a:cs typeface="Arial"/>
              </a:rPr>
              <a:t>Stream</a:t>
            </a:r>
            <a:r>
              <a:rPr lang="he-IL" dirty="0">
                <a:latin typeface="Arial"/>
                <a:cs typeface="Arial"/>
              </a:rPr>
              <a:t> ומסכם אותו לאלמנט יחיד באמצעות פונקציה המקבלת שני אלמנטים ומסכמת אותם:</a:t>
            </a:r>
          </a:p>
          <a:p>
            <a:pPr rtl="1"/>
            <a:endParaRPr lang="he-I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4579CA-B95B-48BD-B3B2-7BFEFC6A14B5}"/>
              </a:ext>
            </a:extLst>
          </p:cNvPr>
          <p:cNvSpPr/>
          <p:nvPr/>
        </p:nvSpPr>
        <p:spPr>
          <a:xfrm>
            <a:off x="1259632" y="2636912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7BB1D1-E041-4A11-8727-B2ACA3DB7332}"/>
              </a:ext>
            </a:extLst>
          </p:cNvPr>
          <p:cNvSpPr/>
          <p:nvPr/>
        </p:nvSpPr>
        <p:spPr>
          <a:xfrm>
            <a:off x="2482825" y="2618829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E81F99-9294-48E2-A47B-3BC4AFB3F30A}"/>
              </a:ext>
            </a:extLst>
          </p:cNvPr>
          <p:cNvSpPr/>
          <p:nvPr/>
        </p:nvSpPr>
        <p:spPr>
          <a:xfrm>
            <a:off x="3706018" y="261823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96B16D-29E8-4553-AF17-174C540C9671}"/>
              </a:ext>
            </a:extLst>
          </p:cNvPr>
          <p:cNvSpPr/>
          <p:nvPr/>
        </p:nvSpPr>
        <p:spPr>
          <a:xfrm>
            <a:off x="4929211" y="261823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BC2B6B-9632-416F-B831-46A57E641D08}"/>
              </a:ext>
            </a:extLst>
          </p:cNvPr>
          <p:cNvSpPr/>
          <p:nvPr/>
        </p:nvSpPr>
        <p:spPr>
          <a:xfrm>
            <a:off x="6152404" y="261823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A3845E-D25D-4563-AD94-080C487BC572}"/>
              </a:ext>
            </a:extLst>
          </p:cNvPr>
          <p:cNvSpPr/>
          <p:nvPr/>
        </p:nvSpPr>
        <p:spPr>
          <a:xfrm>
            <a:off x="7375596" y="262894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D1F719-A713-4EB2-ADB7-60B9FF68B296}"/>
              </a:ext>
            </a:extLst>
          </p:cNvPr>
          <p:cNvCxnSpPr>
            <a:cxnSpLocks/>
          </p:cNvCxnSpPr>
          <p:nvPr/>
        </p:nvCxnSpPr>
        <p:spPr>
          <a:xfrm flipV="1">
            <a:off x="2699792" y="3966121"/>
            <a:ext cx="54006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7F8438-68CD-4A16-A45A-E4974224AC00}"/>
              </a:ext>
            </a:extLst>
          </p:cNvPr>
          <p:cNvSpPr txBox="1"/>
          <p:nvPr/>
        </p:nvSpPr>
        <p:spPr>
          <a:xfrm>
            <a:off x="4572000" y="4077072"/>
            <a:ext cx="12716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>
                <a:latin typeface="Arial"/>
                <a:cs typeface="Arial"/>
              </a:rPr>
              <a:t>Stream</a:t>
            </a:r>
            <a:endParaRPr lang="he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1D522A-0E17-4EC4-BD20-2B7834280700}"/>
              </a:ext>
            </a:extLst>
          </p:cNvPr>
          <p:cNvSpPr txBox="1"/>
          <p:nvPr/>
        </p:nvSpPr>
        <p:spPr>
          <a:xfrm>
            <a:off x="1115616" y="4077072"/>
            <a:ext cx="127161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dirty="0">
                <a:latin typeface="Arial"/>
                <a:cs typeface="Arial"/>
              </a:rPr>
              <a:t>זהות</a:t>
            </a:r>
            <a:endParaRPr lang="he-IL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6ED7210-015E-4339-9EF7-71BF122B97A2}"/>
              </a:ext>
            </a:extLst>
          </p:cNvPr>
          <p:cNvSpPr/>
          <p:nvPr/>
        </p:nvSpPr>
        <p:spPr>
          <a:xfrm>
            <a:off x="2482824" y="2628947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1400" dirty="0">
                <a:latin typeface="Arial"/>
                <a:cs typeface="Arial"/>
              </a:rPr>
              <a:t>תוצאה חלקית</a:t>
            </a:r>
            <a:endParaRPr lang="he-IL" sz="14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1E2A376-0DBC-4733-A49E-7E680D32C25F}"/>
              </a:ext>
            </a:extLst>
          </p:cNvPr>
          <p:cNvSpPr/>
          <p:nvPr/>
        </p:nvSpPr>
        <p:spPr>
          <a:xfrm>
            <a:off x="3716447" y="2614789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sz="1400" dirty="0">
                <a:latin typeface="Arial"/>
                <a:cs typeface="Arial"/>
              </a:rPr>
              <a:t>תוצאה חלקית</a:t>
            </a:r>
            <a:endParaRPr lang="he-IL" sz="1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7F4D30-FE2D-48AD-97EA-6BE7D2582001}"/>
              </a:ext>
            </a:extLst>
          </p:cNvPr>
          <p:cNvSpPr/>
          <p:nvPr/>
        </p:nvSpPr>
        <p:spPr>
          <a:xfrm>
            <a:off x="4921376" y="2605777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/>
            <a:r>
              <a:rPr lang="he-IL" sz="1400" dirty="0">
                <a:solidFill>
                  <a:prstClr val="white"/>
                </a:solidFill>
                <a:latin typeface="Arial"/>
                <a:cs typeface="Arial"/>
              </a:rPr>
              <a:t>תוצאה חלקית</a:t>
            </a:r>
            <a:endParaRPr lang="he-IL" sz="1400" dirty="0">
              <a:solidFill>
                <a:prstClr val="white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3DFBF0-E833-4BE3-8F51-00B31043DBC5}"/>
              </a:ext>
            </a:extLst>
          </p:cNvPr>
          <p:cNvSpPr/>
          <p:nvPr/>
        </p:nvSpPr>
        <p:spPr>
          <a:xfrm>
            <a:off x="6167090" y="2625307"/>
            <a:ext cx="914400" cy="9144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/>
            <a:r>
              <a:rPr lang="he-IL" sz="1400" dirty="0">
                <a:solidFill>
                  <a:prstClr val="white"/>
                </a:solidFill>
                <a:latin typeface="Arial"/>
                <a:cs typeface="Arial"/>
              </a:rPr>
              <a:t>תוצאה חלקית</a:t>
            </a:r>
            <a:endParaRPr lang="he-IL" sz="1400" dirty="0">
              <a:solidFill>
                <a:prstClr val="white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DF32B7-EE1F-4E1D-A0CD-099B8CA1681F}"/>
              </a:ext>
            </a:extLst>
          </p:cNvPr>
          <p:cNvSpPr/>
          <p:nvPr/>
        </p:nvSpPr>
        <p:spPr>
          <a:xfrm>
            <a:off x="7379854" y="2637752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lvl="0" algn="ctr" rtl="1"/>
            <a:r>
              <a:rPr lang="he-IL" sz="1400" dirty="0">
                <a:solidFill>
                  <a:prstClr val="white"/>
                </a:solidFill>
                <a:latin typeface="Arial"/>
                <a:cs typeface="Arial"/>
              </a:rPr>
              <a:t>תוצאה סופית</a:t>
            </a:r>
            <a:endParaRPr lang="he-IL" sz="1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22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59259E-6 L 0.13785 -0.00371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92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0 L 0.13125 -0.0025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33333E-6 L 0.13125 -0.0025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22222E-6 L 0.13125 -0.00255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96296E-6 L 0.13125 -0.00255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5" grpId="0"/>
      <p:bldP spid="16" grpId="0"/>
      <p:bldP spid="16" grpId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84B0-3C50-411E-879C-9383BBC9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הגדרה של Reduce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80D59-09CD-4B9F-AE3B-CA69BC0E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C65257C5-8C5E-4873-BBC5-8928FB8D3623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953E8-3202-4ED0-AE0D-FB5F424D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5F080-0F22-49D4-B455-B5149202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28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3128D-52B0-4101-8699-78F837F272A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פונקציית Reduce מקבלת שני פרמטרים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אלמנט זהות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en-US" dirty="0">
                <a:latin typeface="Arial"/>
                <a:cs typeface="Arial"/>
              </a:rPr>
              <a:t>Accumulator</a:t>
            </a:r>
            <a:r>
              <a:rPr lang="he-IL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</a:t>
            </a:r>
            <a:r>
              <a:rPr lang="en-US" dirty="0" err="1">
                <a:latin typeface="Arial"/>
                <a:cs typeface="Arial"/>
              </a:rPr>
              <a:t>BiFunction</a:t>
            </a:r>
            <a:r>
              <a:rPr lang="en-US" dirty="0">
                <a:latin typeface="Arial"/>
                <a:cs typeface="Arial"/>
              </a:rPr>
              <a:t>)</a:t>
            </a:r>
            <a:r>
              <a:rPr lang="he-IL" dirty="0">
                <a:latin typeface="Arial"/>
                <a:cs typeface="Arial"/>
              </a:rPr>
              <a:t> המסכמת שני אלמנטים אל תוך אלמנט יחיד</a:t>
            </a:r>
          </a:p>
          <a:p>
            <a:pPr lvl="1" rtl="1"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דוגמה: סכימת מספר נרות חנוכה: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dirty="0"/>
              <a:t>int result = </a:t>
            </a:r>
            <a:r>
              <a:rPr lang="en-US" sz="2800" dirty="0" err="1"/>
              <a:t>IntStream.</a:t>
            </a:r>
            <a:r>
              <a:rPr lang="en-US" sz="2800" i="1" dirty="0" err="1"/>
              <a:t>range</a:t>
            </a:r>
            <a:r>
              <a:rPr lang="en-US" sz="2800" i="1" dirty="0"/>
              <a:t>(2, 10)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.reduce(0, (subtotal, element) -&gt; subtotal + element);</a:t>
            </a:r>
          </a:p>
          <a:p>
            <a:pPr marL="0" indent="0">
              <a:buNone/>
            </a:pPr>
            <a:r>
              <a:rPr lang="en-US" dirty="0" err="1"/>
              <a:t>assertThat</a:t>
            </a:r>
            <a:r>
              <a:rPr lang="en-US" dirty="0"/>
              <a:t>(result).</a:t>
            </a:r>
            <a:r>
              <a:rPr lang="en-US" dirty="0" err="1"/>
              <a:t>isEqualTo</a:t>
            </a:r>
            <a:r>
              <a:rPr lang="en-US" dirty="0"/>
              <a:t>(44);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דוגמא שנייה: שרשור Strings:</a:t>
            </a:r>
          </a:p>
          <a:p>
            <a:pPr marL="0" indent="0">
              <a:buNone/>
            </a:pPr>
            <a:r>
              <a:rPr lang="en-US" dirty="0"/>
              <a:t>String result = </a:t>
            </a:r>
            <a:r>
              <a:rPr lang="en-US" dirty="0" err="1"/>
              <a:t>letters.stream</a:t>
            </a:r>
            <a:r>
              <a:rPr lang="en-US" dirty="0"/>
              <a:t>().reduce("", String::</a:t>
            </a:r>
            <a:r>
              <a:rPr lang="en-US" dirty="0" err="1"/>
              <a:t>concat</a:t>
            </a:r>
            <a:r>
              <a:rPr lang="en-US" dirty="0"/>
              <a:t>);</a:t>
            </a:r>
          </a:p>
          <a:p>
            <a:pPr marL="0" indent="0" rtl="1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8418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1F1B-8BD8-4866-891A-95C9DD9B5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Collectors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104C1-A65B-4F2E-98BD-E56F864D3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57D55D74-300A-4AC1-9EB0-2C04DF2FA277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AC96B-24DA-4001-8D5C-D98EEAD6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D33D8-35E7-489A-9F17-AF3AF20F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29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EA309-7481-4C71-AF5F-0F14C760D0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en-US" dirty="0" err="1">
                <a:latin typeface="Arial"/>
                <a:cs typeface="Arial"/>
              </a:rPr>
              <a:t>Stream.collect</a:t>
            </a:r>
            <a:r>
              <a:rPr lang="en-US" dirty="0">
                <a:latin typeface="Arial"/>
                <a:cs typeface="Arial"/>
              </a:rPr>
              <a:t>()</a:t>
            </a:r>
            <a:r>
              <a:rPr lang="he-IL" dirty="0">
                <a:latin typeface="Arial"/>
                <a:cs typeface="Arial"/>
              </a:rPr>
              <a:t> הנה פעולה סופית המשמשת לאריזה מחדש של אלמנטי ה-Stream אל תוך מבנה נתונים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מקבל אובייקט Collector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Examples:</a:t>
            </a:r>
          </a:p>
          <a:p>
            <a:pPr marL="274320" lvl="1" indent="0">
              <a:buNone/>
            </a:pPr>
            <a:r>
              <a:rPr lang="en-US" dirty="0" err="1"/>
              <a:t>stream.collect</a:t>
            </a:r>
            <a:r>
              <a:rPr lang="en-US" dirty="0"/>
              <a:t>(</a:t>
            </a:r>
            <a:r>
              <a:rPr lang="en-US" dirty="0" err="1"/>
              <a:t>Collectors.</a:t>
            </a:r>
            <a:r>
              <a:rPr lang="en-US" i="1" dirty="0" err="1"/>
              <a:t>toList</a:t>
            </a:r>
            <a:r>
              <a:rPr lang="en-US" i="1" dirty="0"/>
              <a:t>())</a:t>
            </a:r>
          </a:p>
          <a:p>
            <a:pPr marL="274320" lvl="1" indent="0">
              <a:buNone/>
            </a:pPr>
            <a:r>
              <a:rPr lang="en-US" dirty="0" err="1"/>
              <a:t>stream.collect</a:t>
            </a:r>
            <a:r>
              <a:rPr lang="en-US" dirty="0"/>
              <a:t>(</a:t>
            </a:r>
            <a:r>
              <a:rPr lang="en-US" dirty="0" err="1"/>
              <a:t>Collectors.</a:t>
            </a:r>
            <a:r>
              <a:rPr lang="en-US" i="1" dirty="0" err="1"/>
              <a:t>toSet</a:t>
            </a:r>
            <a:r>
              <a:rPr lang="en-US" i="1" dirty="0"/>
              <a:t>())</a:t>
            </a:r>
            <a:endParaRPr lang="he-IL" dirty="0"/>
          </a:p>
          <a:p>
            <a:pPr lvl="1" algn="r" rtl="1"/>
            <a:endParaRPr lang="he-IL" dirty="0"/>
          </a:p>
          <a:p>
            <a:pPr lvl="1" algn="r" rtl="1"/>
            <a:r>
              <a:rPr lang="he-IL" dirty="0"/>
              <a:t>בדוגמאות לעיל, אין לנו שליטה לגבי הטיפוס המממש של </a:t>
            </a:r>
            <a:r>
              <a:rPr lang="en-US" dirty="0"/>
              <a:t>List/Set</a:t>
            </a:r>
            <a:r>
              <a:rPr lang="he-IL" dirty="0"/>
              <a:t>. אם חשוב לנו הטיפוס, נשתמש ב:</a:t>
            </a:r>
            <a:endParaRPr lang="en-US" dirty="0"/>
          </a:p>
          <a:p>
            <a:pPr marL="274320" lvl="1" indent="0">
              <a:buNone/>
            </a:pPr>
            <a:r>
              <a:rPr lang="en-US" dirty="0" err="1"/>
              <a:t>stream.collect</a:t>
            </a:r>
            <a:r>
              <a:rPr lang="en-US" dirty="0"/>
              <a:t>(</a:t>
            </a:r>
            <a:r>
              <a:rPr lang="en-US" dirty="0" err="1"/>
              <a:t>Collectors.</a:t>
            </a:r>
            <a:r>
              <a:rPr lang="en-US" i="1" dirty="0" err="1"/>
              <a:t>toCollection</a:t>
            </a:r>
            <a:r>
              <a:rPr lang="en-US" i="1" dirty="0"/>
              <a:t>(LinkedList::</a:t>
            </a:r>
            <a:r>
              <a:rPr lang="en-US" b="1" i="1" dirty="0"/>
              <a:t>new));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433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3D0A-4370-43FA-87DE-066CDD84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he-IL" dirty="0" err="1">
                <a:latin typeface="Arial"/>
                <a:cs typeface="Arial"/>
              </a:rPr>
              <a:t>Collectors.toMap</a:t>
            </a:r>
            <a:r>
              <a:rPr lang="he-IL" dirty="0">
                <a:latin typeface="Arial"/>
                <a:cs typeface="Arial"/>
              </a:rPr>
              <a:t>()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FA4AE-E9A0-4940-A70C-7CE5E9CF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42DDF184-E18F-4A5F-92A9-6D483663AB5B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27F08-1EED-4217-A0F5-52FF2DBD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AC3E7-C0ED-447D-9F49-20BB4B26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30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EA41-D3CF-47A0-803D-64B6A64BB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אוסף Stream אל תוך </a:t>
            </a:r>
            <a:r>
              <a:rPr lang="en-US" dirty="0">
                <a:latin typeface="Arial"/>
                <a:cs typeface="Arial"/>
              </a:rPr>
              <a:t>M</a:t>
            </a:r>
            <a:r>
              <a:rPr lang="he-IL" dirty="0" err="1">
                <a:latin typeface="Arial"/>
                <a:cs typeface="Arial"/>
              </a:rPr>
              <a:t>ap</a:t>
            </a:r>
            <a:r>
              <a:rPr lang="he-IL" dirty="0">
                <a:latin typeface="Arial"/>
                <a:cs typeface="Arial"/>
              </a:rPr>
              <a:t>. מצריך שתי פונקציות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KeyMapper - מייצר מפתח עבור כל אלמנט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valueMapper- מייצר ערך עבור כל אלמנט</a:t>
            </a:r>
          </a:p>
          <a:p>
            <a:pPr rtl="1"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</a:t>
            </a:r>
            <a:r>
              <a:rPr lang="en-US" dirty="0">
                <a:latin typeface="Arial"/>
                <a:cs typeface="Arial"/>
              </a:rPr>
              <a:t>M</a:t>
            </a:r>
            <a:r>
              <a:rPr lang="he-IL" dirty="0" err="1">
                <a:latin typeface="Arial"/>
                <a:cs typeface="Arial"/>
              </a:rPr>
              <a:t>ap</a:t>
            </a:r>
            <a:r>
              <a:rPr lang="he-IL" dirty="0">
                <a:latin typeface="Arial"/>
                <a:cs typeface="Arial"/>
              </a:rPr>
              <a:t> שהמפתחות בו הן המחרוזות והערכים הם האורכים שלהן:</a:t>
            </a:r>
          </a:p>
          <a:p>
            <a:pPr marL="274320" lvl="1" indent="0">
              <a:buNone/>
            </a:pPr>
            <a:r>
              <a:rPr lang="en-US" sz="2500" dirty="0"/>
              <a:t>Map&lt;String, Integer&gt; result = </a:t>
            </a:r>
            <a:r>
              <a:rPr lang="en-US" sz="2500" dirty="0" err="1"/>
              <a:t>stringList.stream</a:t>
            </a:r>
            <a:r>
              <a:rPr lang="en-US" sz="2500" dirty="0"/>
              <a:t>()</a:t>
            </a:r>
            <a:endParaRPr lang="en-US" sz="3300" dirty="0"/>
          </a:p>
          <a:p>
            <a:pPr marL="274320" lvl="1" indent="0">
              <a:buNone/>
            </a:pPr>
            <a:r>
              <a:rPr lang="en-US" sz="2500" dirty="0"/>
              <a:t>  .collect(</a:t>
            </a:r>
            <a:r>
              <a:rPr lang="en-US" sz="2500" dirty="0" err="1"/>
              <a:t>toMap</a:t>
            </a:r>
            <a:r>
              <a:rPr lang="en-US" sz="2500" dirty="0"/>
              <a:t>(</a:t>
            </a:r>
            <a:r>
              <a:rPr lang="en-US" sz="2500" dirty="0" err="1"/>
              <a:t>Function.identity</a:t>
            </a:r>
            <a:r>
              <a:rPr lang="en-US" sz="2500" dirty="0"/>
              <a:t>(), String::length))</a:t>
            </a:r>
            <a:endParaRPr lang="en-US" sz="3300" dirty="0"/>
          </a:p>
          <a:p>
            <a:pPr lvl="1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9651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1701-EEBD-4A6D-86AB-416E976E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groupingBy, partitioningBy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0FBE9-55AB-4025-8C71-DDA686AF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08826D8E-5A8A-47BC-BAED-BE165B6D2126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BDA1E-54F4-4504-BEBF-C929E705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  <a:endParaRPr lang="he-IL" b="1" dirty="0"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09511-6619-4F41-A288-F9E70E7F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31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4854E-4082-4DAA-AFE2-363241B705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אוסף Stream אל תוך </a:t>
            </a:r>
            <a:r>
              <a:rPr lang="en-US" dirty="0">
                <a:latin typeface="Arial"/>
                <a:cs typeface="Arial"/>
              </a:rPr>
              <a:t>M</a:t>
            </a:r>
            <a:r>
              <a:rPr lang="he-IL" dirty="0" err="1">
                <a:latin typeface="Arial"/>
                <a:cs typeface="Arial"/>
              </a:rPr>
              <a:t>ap</a:t>
            </a:r>
            <a:r>
              <a:rPr lang="he-IL" dirty="0">
                <a:latin typeface="Arial"/>
                <a:cs typeface="Arial"/>
              </a:rPr>
              <a:t>, וב-</a:t>
            </a:r>
            <a:r>
              <a:rPr lang="en-US" dirty="0">
                <a:latin typeface="Arial"/>
                <a:cs typeface="Arial"/>
              </a:rPr>
              <a:t>M</a:t>
            </a:r>
            <a:r>
              <a:rPr lang="he-IL" dirty="0" err="1">
                <a:latin typeface="Arial"/>
                <a:cs typeface="Arial"/>
              </a:rPr>
              <a:t>ap</a:t>
            </a:r>
            <a:r>
              <a:rPr lang="he-IL" dirty="0">
                <a:latin typeface="Arial"/>
                <a:cs typeface="Arial"/>
              </a:rPr>
              <a:t> האלמנטים מקובצים בהתאם למפתח נתון. מצריך keyMapper</a:t>
            </a:r>
            <a:endParaRPr lang="he-IL" dirty="0"/>
          </a:p>
          <a:p>
            <a:pPr marL="274320" lvl="1" indent="0">
              <a:buNone/>
            </a:pPr>
            <a:r>
              <a:rPr lang="en-US" sz="2500" dirty="0"/>
              <a:t>Map&lt;Integer, List&lt;String&gt;&gt; result = </a:t>
            </a:r>
            <a:r>
              <a:rPr lang="en-US" sz="2500" dirty="0" err="1"/>
              <a:t>givenList.stream</a:t>
            </a:r>
            <a:r>
              <a:rPr lang="en-US" sz="2500" dirty="0"/>
              <a:t>()</a:t>
            </a:r>
          </a:p>
          <a:p>
            <a:pPr marL="274320" lvl="1" indent="0">
              <a:buNone/>
            </a:pPr>
            <a:r>
              <a:rPr lang="en-US" sz="2500" dirty="0"/>
              <a:t>  .collect(</a:t>
            </a:r>
            <a:r>
              <a:rPr lang="en-US" sz="2500" dirty="0" err="1"/>
              <a:t>groupingBy</a:t>
            </a:r>
            <a:r>
              <a:rPr lang="en-US" sz="2500" dirty="0"/>
              <a:t>(String::length));</a:t>
            </a:r>
          </a:p>
          <a:p>
            <a:pPr marL="274320" lvl="1" indent="0">
              <a:buNone/>
            </a:pPr>
            <a:endParaRPr lang="he-IL" sz="2500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סוג מיוחד של קיבוץ לפי פרדיקט: </a:t>
            </a:r>
            <a:r>
              <a:rPr lang="he-IL" sz="2800" dirty="0">
                <a:latin typeface="Arial"/>
                <a:cs typeface="Arial"/>
              </a:rPr>
              <a:t>partitioningBy</a:t>
            </a:r>
            <a:endParaRPr lang="he-IL" dirty="0"/>
          </a:p>
          <a:p>
            <a:pPr marL="274320" lvl="1" indent="0">
              <a:buNone/>
            </a:pPr>
            <a:r>
              <a:rPr lang="en-US" sz="2500" dirty="0"/>
              <a:t>Map&lt;Boolean, List&lt;String&gt;&gt; result = </a:t>
            </a:r>
            <a:r>
              <a:rPr lang="en-US" sz="2500" dirty="0" err="1"/>
              <a:t>givenList.stream</a:t>
            </a:r>
            <a:r>
              <a:rPr lang="en-US" sz="2500" dirty="0"/>
              <a:t>()</a:t>
            </a:r>
            <a:endParaRPr lang="en-US" sz="3300" dirty="0"/>
          </a:p>
          <a:p>
            <a:pPr marL="274320" lvl="1" indent="0">
              <a:buNone/>
            </a:pPr>
            <a:r>
              <a:rPr lang="en-US" sz="2500" dirty="0"/>
              <a:t>  .collect(</a:t>
            </a:r>
            <a:r>
              <a:rPr lang="en-US" sz="2500" dirty="0" err="1"/>
              <a:t>partitioningBy</a:t>
            </a:r>
            <a:r>
              <a:rPr lang="en-US" sz="2500" dirty="0"/>
              <a:t>(s -&gt; </a:t>
            </a:r>
            <a:r>
              <a:rPr lang="en-US" sz="2500" dirty="0" err="1"/>
              <a:t>s.length</a:t>
            </a:r>
            <a:r>
              <a:rPr lang="en-US" sz="2500" dirty="0"/>
              <a:t>() &gt; 2))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29724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2" algn="r" rtl="1">
              <a:spcBef>
                <a:spcPct val="0"/>
              </a:spcBef>
            </a:pPr>
            <a:r>
              <a:rPr lang="he-IL" sz="2800" kern="1200" dirty="0">
                <a:solidFill>
                  <a:schemeClr val="tx2"/>
                </a:solidFill>
                <a:latin typeface="Arial"/>
                <a:cs typeface="Arial"/>
              </a:rPr>
              <a:t>פעולות ביניים</a:t>
            </a:r>
            <a:endParaRPr lang="he-IL" sz="2800" kern="1200" dirty="0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EB36AD67-FC16-497B-B292-E0F54E7E5052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32</a:t>
            </a:fld>
            <a:endParaRPr kumimoji="0" lang="he-IL" dirty="0"/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1"/>
          </p:nvPr>
        </p:nvSpPr>
        <p:spPr>
          <a:xfrm>
            <a:off x="455313" y="1340768"/>
            <a:ext cx="8229600" cy="92441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>
                <a:latin typeface="Arial"/>
                <a:cs typeface="Arial"/>
              </a:rPr>
              <a:t>פעולות ביניים מקבלות Stream ומחזירות Stream</a:t>
            </a:r>
          </a:p>
        </p:txBody>
      </p:sp>
      <p:sp>
        <p:nvSpPr>
          <p:cNvPr id="10" name="מציין מיקום של כותרת תחתונה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>
                <a:latin typeface="Arial"/>
                <a:cs typeface="Arial"/>
              </a:rPr>
              <a:t>עיצוב ותכנות מונחי עצמים מתקדם</a:t>
            </a:r>
            <a:endParaRPr lang="he-IL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351986"/>
              </p:ext>
            </p:extLst>
          </p:nvPr>
        </p:nvGraphicFramePr>
        <p:xfrm>
          <a:off x="2338409" y="4651167"/>
          <a:ext cx="446340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347">
                  <a:extLst>
                    <a:ext uri="{9D8B030D-6E8A-4147-A177-3AD203B41FA5}">
                      <a16:colId xmlns:a16="http://schemas.microsoft.com/office/drawing/2014/main" val="2059370399"/>
                    </a:ext>
                  </a:extLst>
                </a:gridCol>
                <a:gridCol w="1549789">
                  <a:extLst>
                    <a:ext uri="{9D8B030D-6E8A-4147-A177-3AD203B41FA5}">
                      <a16:colId xmlns:a16="http://schemas.microsoft.com/office/drawing/2014/main" val="402948033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484146529"/>
                    </a:ext>
                  </a:extLst>
                </a:gridCol>
                <a:gridCol w="2125216">
                  <a:extLst>
                    <a:ext uri="{9D8B030D-6E8A-4147-A177-3AD203B41FA5}">
                      <a16:colId xmlns:a16="http://schemas.microsoft.com/office/drawing/2014/main" val="201935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1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 err="1"/>
                        <a:t>skip</a:t>
                      </a:r>
                      <a:r>
                        <a:rPr lang="he-IL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dirty="0"/>
                        <a:t>distinct()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015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dirty="0" err="1"/>
                        <a:t>filter</a:t>
                      </a:r>
                      <a:r>
                        <a:rPr lang="he-IL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/>
                        <a:t>limit()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90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dirty="0" err="1"/>
                        <a:t>flatmap</a:t>
                      </a:r>
                      <a:r>
                        <a:rPr lang="he-IL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he-IL" dirty="0" err="1"/>
                        <a:t>map</a:t>
                      </a:r>
                      <a:r>
                        <a:rPr lang="he-IL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289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</a:t>
                      </a:r>
                      <a:r>
                        <a:rPr lang="he-IL" dirty="0" err="1"/>
                        <a:t>orted</a:t>
                      </a:r>
                      <a:r>
                        <a:rPr lang="he-IL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487115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 flipV="1">
            <a:off x="3835080" y="2240658"/>
            <a:ext cx="1665000" cy="272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35080" y="2257844"/>
            <a:ext cx="0" cy="171259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3818748" y="3933665"/>
            <a:ext cx="1665000" cy="272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474512" y="2237555"/>
            <a:ext cx="20472" cy="17196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2927083" y="2563242"/>
            <a:ext cx="1139570" cy="136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6"/>
          <p:cNvSpPr txBox="1"/>
          <p:nvPr/>
        </p:nvSpPr>
        <p:spPr>
          <a:xfrm>
            <a:off x="3059835" y="2205051"/>
            <a:ext cx="633859" cy="259307"/>
          </a:xfrm>
          <a:prstGeom prst="rect">
            <a:avLst/>
          </a:prstGeom>
          <a:solidFill>
            <a:schemeClr val="lt1"/>
          </a:solidFill>
          <a:ln w="3810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100">
                <a:effectLst/>
                <a:latin typeface="Arial"/>
                <a:cs typeface="Arial"/>
              </a:rPr>
              <a:t>Stream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4270118" y="2713027"/>
            <a:ext cx="743573" cy="1333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4274941" y="2946684"/>
            <a:ext cx="743791" cy="136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4287025" y="3157926"/>
            <a:ext cx="743791" cy="136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295684" y="3416568"/>
            <a:ext cx="743791" cy="1364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5039475" y="3651618"/>
            <a:ext cx="1476741" cy="7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12"/>
          <p:cNvSpPr txBox="1"/>
          <p:nvPr/>
        </p:nvSpPr>
        <p:spPr>
          <a:xfrm>
            <a:off x="5615898" y="3281610"/>
            <a:ext cx="684293" cy="259307"/>
          </a:xfrm>
          <a:prstGeom prst="rect">
            <a:avLst/>
          </a:prstGeom>
          <a:solidFill>
            <a:schemeClr val="lt1"/>
          </a:solidFill>
          <a:ln w="3810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100">
                <a:effectLst/>
                <a:latin typeface="Arial"/>
                <a:cs typeface="Arial"/>
              </a:rPr>
              <a:t>Stream</a:t>
            </a:r>
          </a:p>
        </p:txBody>
      </p:sp>
      <p:sp>
        <p:nvSpPr>
          <p:cNvPr id="24" name="מציין מיקום תוכן 5"/>
          <p:cNvSpPr txBox="1">
            <a:spLocks/>
          </p:cNvSpPr>
          <p:nvPr/>
        </p:nvSpPr>
        <p:spPr>
          <a:xfrm>
            <a:off x="5662490" y="4046678"/>
            <a:ext cx="2374411" cy="54613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48640" indent="-274320" algn="r" rtl="1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22960" indent="-228600" algn="r" rtl="1" eaLnBrk="1" latinLnBrk="0" hangingPunct="1">
              <a:spcBef>
                <a:spcPts val="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097280" indent="-228600" algn="r" rtl="1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371600" indent="-228600" algn="r" rtl="1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spcAft>
                <a:spcPts val="0"/>
              </a:spcAft>
              <a:buFont typeface="Wingdings 3"/>
              <a:buNone/>
            </a:pPr>
            <a:r>
              <a:rPr lang="he-IL" sz="2400" b="1" u="sng" dirty="0">
                <a:latin typeface="Arial"/>
                <a:cs typeface="Arial"/>
              </a:rPr>
              <a:t>דוגמאות</a:t>
            </a:r>
            <a:endParaRPr lang="he-IL" sz="2400" b="1" dirty="0"/>
          </a:p>
          <a:p>
            <a:pPr marL="0" indent="0" algn="ctr" rtl="1">
              <a:spcAft>
                <a:spcPts val="0"/>
              </a:spcAft>
              <a:buFont typeface="Wingdings 3"/>
              <a:buNone/>
            </a:pPr>
            <a:endParaRPr lang="he-IL" sz="2800" b="1" dirty="0"/>
          </a:p>
          <a:p>
            <a:pPr marL="0" indent="0" rtl="1">
              <a:spcAft>
                <a:spcPts val="0"/>
              </a:spcAft>
              <a:buFont typeface="Wingdings 3"/>
              <a:buNone/>
            </a:pPr>
            <a:endParaRPr lang="he-IL" sz="2800" b="1" dirty="0"/>
          </a:p>
          <a:p>
            <a:pPr marL="514350" indent="-514350" rtl="1">
              <a:spcAft>
                <a:spcPts val="0"/>
              </a:spcAft>
              <a:buFont typeface="+mj-lt"/>
              <a:buAutoNum type="arabicParenR"/>
            </a:pPr>
            <a:endParaRPr lang="he-IL" sz="2800" dirty="0"/>
          </a:p>
          <a:p>
            <a:pPr marL="514350" indent="-514350" rtl="1">
              <a:spcAft>
                <a:spcPts val="0"/>
              </a:spcAft>
              <a:buFont typeface="+mj-lt"/>
              <a:buAutoNum type="arabicParenR"/>
            </a:pPr>
            <a:endParaRPr lang="he-IL" sz="2800" dirty="0"/>
          </a:p>
          <a:p>
            <a:pPr marL="514350" indent="-514350" rtl="1">
              <a:spcAft>
                <a:spcPts val="0"/>
              </a:spcAft>
              <a:buFont typeface="+mj-lt"/>
              <a:buAutoNum type="arabicParenR"/>
            </a:pPr>
            <a:endParaRPr lang="he-IL" sz="2800" dirty="0"/>
          </a:p>
          <a:p>
            <a:pPr marL="0" indent="0" rtl="1">
              <a:spcAft>
                <a:spcPts val="0"/>
              </a:spcAft>
              <a:buFont typeface="Wingdings 3"/>
              <a:buNone/>
            </a:pPr>
            <a:endParaRPr lang="he-IL" sz="2800" dirty="0"/>
          </a:p>
          <a:p>
            <a:pPr marL="0" indent="0" rtl="1">
              <a:spcAft>
                <a:spcPts val="0"/>
              </a:spcAft>
              <a:buFont typeface="Wingdings 3"/>
              <a:buNone/>
            </a:pPr>
            <a:endParaRPr lang="he-IL" sz="2800" dirty="0">
              <a:solidFill>
                <a:schemeClr val="tx2"/>
              </a:solidFill>
            </a:endParaRPr>
          </a:p>
          <a:p>
            <a:pPr marL="0" indent="0" rtl="1">
              <a:spcAft>
                <a:spcPts val="0"/>
              </a:spcAft>
              <a:buFont typeface="Wingdings 3"/>
              <a:buNone/>
            </a:pPr>
            <a:endParaRPr lang="he-IL" sz="2800" dirty="0"/>
          </a:p>
          <a:p>
            <a:pPr marL="0" indent="0" rtl="1">
              <a:spcAft>
                <a:spcPts val="0"/>
              </a:spcAft>
              <a:buFont typeface="Wingdings 3"/>
              <a:buNone/>
            </a:pPr>
            <a:endParaRPr lang="he-IL" sz="2800" dirty="0"/>
          </a:p>
          <a:p>
            <a:pPr marL="0" indent="0" rtl="1">
              <a:buFont typeface="Wingdings 3"/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4137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8817-A8B8-44E0-A5B5-D428CD27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פעולות פשוטות על Streams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F859D6-D94F-4135-9A20-0EBA1DB18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2E3B36BD-A1B9-41DB-A56E-C63E24552F66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3A520-192B-4D4D-A1A9-437CCC8D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2A0D4-C568-447A-A78E-AABC0409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33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A6F50-725C-40CC-AAB9-D304898E67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he-IL" dirty="0">
                <a:latin typeface="Arial"/>
                <a:cs typeface="Arial"/>
              </a:rPr>
              <a:t>Stream&lt;String&gt; stream = Stream.of("a", "b", "c ", "a");</a:t>
            </a:r>
          </a:p>
          <a:p>
            <a:pPr marL="0" indent="0" algn="r" rtl="1">
              <a:buNone/>
            </a:pPr>
            <a:r>
              <a:rPr lang="he-IL" dirty="0">
                <a:latin typeface="Arial"/>
                <a:cs typeface="Arial"/>
              </a:rPr>
              <a:t>לאחר מכן, אחד מהבאים:</a:t>
            </a:r>
          </a:p>
          <a:p>
            <a:pPr marL="274320" lvl="1" indent="0" rtl="1">
              <a:lnSpc>
                <a:spcPts val="1400"/>
              </a:lnSpc>
              <a:buNone/>
            </a:pPr>
            <a:endParaRPr lang="he-IL" dirty="0"/>
          </a:p>
          <a:p>
            <a:pPr lvl="1" rtl="1">
              <a:lnSpc>
                <a:spcPts val="1000"/>
              </a:lnSpc>
            </a:pPr>
            <a:endParaRPr lang="he-IL" dirty="0"/>
          </a:p>
          <a:p>
            <a:pPr algn="r" rtl="1">
              <a:lnSpc>
                <a:spcPts val="1000"/>
              </a:lnSpc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את מספר האלמנטים </a:t>
            </a:r>
            <a:r>
              <a:rPr lang="he-IL" u="sng" dirty="0">
                <a:latin typeface="Arial"/>
                <a:cs typeface="Arial"/>
              </a:rPr>
              <a:t>השונים</a:t>
            </a:r>
            <a:r>
              <a:rPr lang="he-IL" dirty="0">
                <a:latin typeface="Arial"/>
                <a:cs typeface="Arial"/>
              </a:rPr>
              <a:t>:</a:t>
            </a:r>
          </a:p>
          <a:p>
            <a:pPr lvl="1">
              <a:lnSpc>
                <a:spcPts val="1000"/>
              </a:lnSpc>
              <a:spcBef>
                <a:spcPts val="600"/>
              </a:spcBef>
            </a:pPr>
            <a:r>
              <a:rPr lang="en-US" dirty="0"/>
              <a:t>long count = </a:t>
            </a:r>
            <a:r>
              <a:rPr lang="en-US" dirty="0" err="1"/>
              <a:t>stream.</a:t>
            </a:r>
            <a:r>
              <a:rPr lang="en-US" dirty="0" err="1">
                <a:solidFill>
                  <a:srgbClr val="7030A0"/>
                </a:solidFill>
              </a:rPr>
              <a:t>distinct</a:t>
            </a:r>
            <a:r>
              <a:rPr lang="en-US" dirty="0">
                <a:solidFill>
                  <a:srgbClr val="7030A0"/>
                </a:solidFill>
              </a:rPr>
              <a:t>()</a:t>
            </a:r>
            <a:r>
              <a:rPr lang="en-US" dirty="0"/>
              <a:t>.count();</a:t>
            </a:r>
          </a:p>
          <a:p>
            <a:pPr lvl="1" rtl="1">
              <a:lnSpc>
                <a:spcPts val="1000"/>
              </a:lnSpc>
              <a:buFont typeface="Wingdings 3" panose="05040102010807070707" pitchFamily="18" charset="2"/>
              <a:buChar char=""/>
            </a:pPr>
            <a:endParaRPr lang="he-IL" dirty="0"/>
          </a:p>
          <a:p>
            <a:pPr rtl="1">
              <a:lnSpc>
                <a:spcPts val="1000"/>
              </a:lnSpc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lnSpc>
                <a:spcPts val="1000"/>
              </a:lnSpc>
              <a:buFont typeface="Wingdings 3" panose="05040102010807070707" pitchFamily="18" charset="2"/>
              <a:buChar char=""/>
            </a:pPr>
            <a:endParaRPr lang="he-IL" dirty="0">
              <a:latin typeface="Arial"/>
              <a:cs typeface="Arial"/>
            </a:endParaRPr>
          </a:p>
          <a:p>
            <a:pPr algn="r" rtl="1">
              <a:lnSpc>
                <a:spcPts val="1000"/>
              </a:lnSpc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את האלמנט השלישי</a:t>
            </a:r>
          </a:p>
          <a:p>
            <a:pPr lvl="1">
              <a:lnSpc>
                <a:spcPts val="1000"/>
              </a:lnSpc>
              <a:spcBef>
                <a:spcPts val="600"/>
              </a:spcBef>
            </a:pPr>
            <a:r>
              <a:rPr lang="en-US" dirty="0"/>
              <a:t>String </a:t>
            </a:r>
            <a:r>
              <a:rPr lang="en-US" dirty="0" err="1"/>
              <a:t>string</a:t>
            </a:r>
            <a:r>
              <a:rPr lang="en-US" dirty="0"/>
              <a:t> = </a:t>
            </a:r>
            <a:r>
              <a:rPr lang="en-US" dirty="0" err="1"/>
              <a:t>stream.</a:t>
            </a:r>
            <a:r>
              <a:rPr lang="en-US" dirty="0" err="1">
                <a:solidFill>
                  <a:srgbClr val="7030A0"/>
                </a:solidFill>
              </a:rPr>
              <a:t>skip</a:t>
            </a:r>
            <a:r>
              <a:rPr lang="en-US" dirty="0">
                <a:solidFill>
                  <a:srgbClr val="7030A0"/>
                </a:solidFill>
              </a:rPr>
              <a:t>(2)</a:t>
            </a:r>
            <a:r>
              <a:rPr lang="en-US" dirty="0"/>
              <a:t>.</a:t>
            </a:r>
            <a:r>
              <a:rPr lang="en-US" dirty="0" err="1"/>
              <a:t>findFirst</a:t>
            </a:r>
            <a:r>
              <a:rPr lang="en-US" dirty="0"/>
              <a:t>().</a:t>
            </a:r>
            <a:r>
              <a:rPr lang="en-US" dirty="0" err="1"/>
              <a:t>orElse</a:t>
            </a:r>
            <a:r>
              <a:rPr lang="en-US" dirty="0"/>
              <a:t>(null);</a:t>
            </a:r>
          </a:p>
          <a:p>
            <a:pPr marL="0" indent="0" rtl="1">
              <a:buNone/>
            </a:pP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561D8-DEB4-47B5-8FAE-FF99B2152F0F}"/>
              </a:ext>
            </a:extLst>
          </p:cNvPr>
          <p:cNvSpPr txBox="1"/>
          <p:nvPr/>
        </p:nvSpPr>
        <p:spPr>
          <a:xfrm>
            <a:off x="1514514" y="3014672"/>
            <a:ext cx="259228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פעולה סופית</a:t>
            </a:r>
            <a:endParaRPr lang="he-IL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7F23CF-D524-4E5B-A938-9BADB9010CC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106802" y="2938472"/>
            <a:ext cx="825238" cy="26086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E62858-E189-4778-B8EF-DA623BDC515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106802" y="3199338"/>
            <a:ext cx="681222" cy="37367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A37E461-9EC9-4095-A0A1-8CCFA32C5E46}"/>
              </a:ext>
            </a:extLst>
          </p:cNvPr>
          <p:cNvSpPr txBox="1"/>
          <p:nvPr/>
        </p:nvSpPr>
        <p:spPr>
          <a:xfrm>
            <a:off x="2058960" y="3915321"/>
            <a:ext cx="259228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>
                <a:solidFill>
                  <a:srgbClr val="7030A0"/>
                </a:solidFill>
                <a:latin typeface="Arial"/>
                <a:cs typeface="Arial"/>
              </a:rPr>
              <a:t>פעולת ביניים</a:t>
            </a:r>
            <a:endParaRPr lang="he-IL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5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2D7D5-2725-4CD4-B89F-1DB34546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 dirty="0">
                <a:latin typeface="Arial"/>
                <a:cs typeface="Arial"/>
              </a:rPr>
              <a:t>filter</a:t>
            </a:r>
            <a:r>
              <a:rPr lang="he-IL" dirty="0">
                <a:latin typeface="Arial"/>
                <a:cs typeface="Arial"/>
              </a:rPr>
              <a:t>: פעולת ביניים עם פרדיקט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FA1D8-A6A6-40FC-9025-9B218756D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B093F644-292F-4867-91D3-8FA82736433F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364A4-7F1C-40BB-BBA2-FBAA9060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C9DCF-19CC-40D1-B78C-D2A06DEF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34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0FB73-2977-4F74-A78C-DBEC71C4ACF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Stream מסונן הכולל את האלמנטים הרלוונטיים בלבד</a:t>
            </a:r>
          </a:p>
          <a:p>
            <a:pPr lvl="1"/>
            <a:r>
              <a:rPr lang="en-US" dirty="0" err="1"/>
              <a:t>list.stream</a:t>
            </a:r>
            <a:r>
              <a:rPr lang="en-US" dirty="0"/>
              <a:t>().</a:t>
            </a:r>
            <a:r>
              <a:rPr lang="en-US" dirty="0">
                <a:solidFill>
                  <a:srgbClr val="FF0000"/>
                </a:solidFill>
              </a:rPr>
              <a:t>filter</a:t>
            </a:r>
            <a:r>
              <a:rPr lang="en-US" dirty="0"/>
              <a:t>(element -&gt; </a:t>
            </a:r>
            <a:r>
              <a:rPr lang="en-US" dirty="0" err="1"/>
              <a:t>element.contains</a:t>
            </a:r>
            <a:r>
              <a:rPr lang="en-US" dirty="0"/>
              <a:t>("d"))</a:t>
            </a:r>
          </a:p>
          <a:p>
            <a:pPr rtl="1"/>
            <a:endParaRPr lang="he-IL" dirty="0"/>
          </a:p>
          <a:p>
            <a:pPr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65555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7273-C856-4E36-85C0-CABC8E82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 err="1">
                <a:latin typeface="Arial"/>
                <a:cs typeface="Arial"/>
              </a:rPr>
              <a:t>map</a:t>
            </a:r>
            <a:r>
              <a:rPr lang="he-IL" dirty="0">
                <a:latin typeface="Arial"/>
                <a:cs typeface="Arial"/>
              </a:rPr>
              <a:t>: המרת אברי ה </a:t>
            </a:r>
            <a:r>
              <a:rPr lang="en-US" dirty="0">
                <a:latin typeface="Arial"/>
                <a:cs typeface="Arial"/>
              </a:rPr>
              <a:t>Stream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47E5B-8312-4E45-A08E-B4C1029C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36D4F005-C65B-4B04-B607-EBEDEA8F83A7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B2FAF-E96B-4A82-9FEE-257ECECC7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830B2-051D-4197-B894-2666B2E9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35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AF894-03F7-489E-8045-B4E703A817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9512" y="1280795"/>
            <a:ext cx="8867328" cy="4937760"/>
          </a:xfrm>
        </p:spPr>
        <p:txBody>
          <a:bodyPr>
            <a:normAutofit/>
          </a:bodyPr>
          <a:lstStyle/>
          <a:p>
            <a:pPr marL="176213" indent="0" algn="l">
              <a:lnSpc>
                <a:spcPts val="1400"/>
              </a:lnSpc>
              <a:buNone/>
            </a:pPr>
            <a:r>
              <a:rPr lang="he-IL" sz="2300" dirty="0">
                <a:solidFill>
                  <a:schemeClr val="tx2"/>
                </a:solidFill>
              </a:rPr>
              <a:t>Set&lt;Employee&gt; employees …</a:t>
            </a:r>
          </a:p>
          <a:p>
            <a:pPr marL="365760" indent="-457200" algn="r" rtl="1">
              <a:lnSpc>
                <a:spcPts val="2600"/>
              </a:lnSpc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Stream של מספרי טלפון</a:t>
            </a:r>
          </a:p>
          <a:p>
            <a:pPr marL="182880" lvl="1" indent="0">
              <a:lnSpc>
                <a:spcPts val="3200"/>
              </a:lnSpc>
              <a:buNone/>
            </a:pPr>
            <a:r>
              <a:rPr lang="en-US" dirty="0" err="1"/>
              <a:t>employees.stream</a:t>
            </a:r>
            <a:r>
              <a:rPr lang="en-US" dirty="0"/>
              <a:t>().map(e -&gt; </a:t>
            </a:r>
            <a:r>
              <a:rPr lang="en-US" dirty="0" err="1"/>
              <a:t>e.getPhoneNumber</a:t>
            </a:r>
            <a:r>
              <a:rPr lang="en-US" dirty="0"/>
              <a:t>())</a:t>
            </a:r>
          </a:p>
          <a:p>
            <a:pPr marL="525780" lvl="1" indent="-342900" rtl="1">
              <a:lnSpc>
                <a:spcPts val="2600"/>
              </a:lnSpc>
              <a:buFont typeface="Wingdings 3" panose="05040102010807070707" pitchFamily="18" charset="2"/>
              <a:buChar char=""/>
            </a:pPr>
            <a:endParaRPr lang="he-IL" dirty="0"/>
          </a:p>
          <a:p>
            <a:pPr marL="365760" indent="-457200" algn="r" rtl="1">
              <a:lnSpc>
                <a:spcPts val="2600"/>
              </a:lnSpc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מחזיר את המשכורת הממוצעת</a:t>
            </a:r>
          </a:p>
          <a:p>
            <a:pPr marL="182880" lvl="1" indent="0">
              <a:lnSpc>
                <a:spcPts val="1400"/>
              </a:lnSpc>
              <a:buNone/>
            </a:pPr>
            <a:r>
              <a:rPr lang="en-US" dirty="0" err="1"/>
              <a:t>employees.stream</a:t>
            </a:r>
            <a:r>
              <a:rPr lang="en-US" dirty="0"/>
              <a:t>().</a:t>
            </a:r>
            <a:r>
              <a:rPr lang="en-US" dirty="0" err="1"/>
              <a:t>mapToInt</a:t>
            </a:r>
            <a:r>
              <a:rPr lang="en-US" dirty="0"/>
              <a:t>(e-&gt;</a:t>
            </a:r>
            <a:r>
              <a:rPr lang="en-US" dirty="0" err="1"/>
              <a:t>e.getSalary</a:t>
            </a:r>
            <a:r>
              <a:rPr lang="en-US" dirty="0"/>
              <a:t>())</a:t>
            </a:r>
          </a:p>
          <a:p>
            <a:pPr marL="0" indent="0">
              <a:lnSpc>
                <a:spcPts val="3200"/>
              </a:lnSpc>
              <a:buNone/>
            </a:pPr>
            <a:r>
              <a:rPr lang="en-US" sz="2300" dirty="0"/>
              <a:t>	</a:t>
            </a:r>
            <a:r>
              <a:rPr lang="en-US" sz="2300" dirty="0">
                <a:solidFill>
                  <a:schemeClr val="tx2"/>
                </a:solidFill>
              </a:rPr>
              <a:t>.average().</a:t>
            </a:r>
            <a:r>
              <a:rPr lang="en-US" sz="2300" dirty="0" err="1">
                <a:solidFill>
                  <a:schemeClr val="tx2"/>
                </a:solidFill>
              </a:rPr>
              <a:t>orElse</a:t>
            </a:r>
            <a:r>
              <a:rPr lang="en-US" sz="2300" dirty="0">
                <a:solidFill>
                  <a:schemeClr val="tx2"/>
                </a:solidFill>
              </a:rPr>
              <a:t>(0);</a:t>
            </a:r>
          </a:p>
        </p:txBody>
      </p:sp>
    </p:spTree>
    <p:extLst>
      <p:ext uri="{BB962C8B-B14F-4D97-AF65-F5344CB8AC3E}">
        <p14:creationId xmlns:p14="http://schemas.microsoft.com/office/powerpoint/2010/main" val="67009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282-3EAF-45CE-AA47-04B4DB15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flatMap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68A31-7DEB-413B-90BF-A7936C09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0BFAE7C5-7223-4B50-A0B5-0A94153FB653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4C3CC-BB69-4782-9D47-2CA50F099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8951D-8691-484B-BF1C-E5728960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36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BC3132-C51A-41D3-BD99-836755938E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פונקציית עזר המשטחת מבנים היררכיים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Stream של מערכים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Stream של רשימות</a:t>
            </a:r>
          </a:p>
          <a:p>
            <a:pPr lvl="1"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Stream של קבוצות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מקבל פונקציה שממירה כל איבר ל </a:t>
            </a:r>
            <a:r>
              <a:rPr lang="en-US" dirty="0">
                <a:latin typeface="Arial"/>
                <a:cs typeface="Arial"/>
              </a:rPr>
              <a:t>Stream</a:t>
            </a:r>
            <a:r>
              <a:rPr lang="he-IL" dirty="0">
                <a:latin typeface="Arial"/>
                <a:cs typeface="Arial"/>
              </a:rPr>
              <a:t>, מחזיר Stream</a:t>
            </a:r>
          </a:p>
          <a:p>
            <a:pPr algn="r" rtl="1">
              <a:lnSpc>
                <a:spcPts val="2600"/>
              </a:lnSpc>
              <a:buFont typeface="Wingdings 3" panose="05040102010807070707" pitchFamily="18" charset="2"/>
              <a:buChar char=""/>
            </a:pPr>
            <a:r>
              <a:rPr lang="he-IL" sz="2300" dirty="0">
                <a:latin typeface="Arial"/>
                <a:cs typeface="Arial"/>
              </a:rPr>
              <a:t>דוגמא: בהינתן רשימת עובדים מחזיר רשימת ציוד כללית שלהם יחד.</a:t>
            </a:r>
          </a:p>
          <a:p>
            <a:pPr marL="274320" lvl="1" indent="0">
              <a:buNone/>
            </a:pPr>
            <a:r>
              <a:rPr lang="en-US" dirty="0" err="1"/>
              <a:t>employees.stream</a:t>
            </a:r>
            <a:r>
              <a:rPr lang="en-US" dirty="0"/>
              <a:t>()</a:t>
            </a:r>
          </a:p>
          <a:p>
            <a:pPr marL="274320" lvl="1" indent="0">
              <a:buNone/>
            </a:pPr>
            <a:r>
              <a:rPr lang="en-US" dirty="0"/>
              <a:t>.map(e-&gt; </a:t>
            </a:r>
            <a:r>
              <a:rPr lang="en-US" dirty="0" err="1"/>
              <a:t>e.getEquipment</a:t>
            </a:r>
            <a:r>
              <a:rPr lang="en-US" dirty="0"/>
              <a:t>())</a:t>
            </a:r>
          </a:p>
          <a:p>
            <a:pPr marL="274320" lvl="1" indent="0">
              <a:buNone/>
            </a:pPr>
            <a:r>
              <a:rPr lang="en-US" dirty="0"/>
              <a:t>.</a:t>
            </a:r>
            <a:r>
              <a:rPr lang="en-US" dirty="0" err="1"/>
              <a:t>flatMap</a:t>
            </a:r>
            <a:r>
              <a:rPr lang="en-US" dirty="0"/>
              <a:t>(e-&gt; </a:t>
            </a:r>
            <a:r>
              <a:rPr lang="en-US" dirty="0" err="1"/>
              <a:t>e.stream</a:t>
            </a:r>
            <a:r>
              <a:rPr lang="en-US" dirty="0"/>
              <a:t>())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FE38B-445B-4908-9852-542742B0A1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071"/>
          <a:stretch/>
        </p:blipFill>
        <p:spPr>
          <a:xfrm>
            <a:off x="4464465" y="3716230"/>
            <a:ext cx="4222335" cy="210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97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9E5F-9F30-476B-BF96-58A5A41F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מחשוב מקבילי באמצעות Streams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3DD0E-FDBE-403E-BF92-F84977E9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5265F62A-5CEF-44BF-9888-10F5F538CDBB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C9807-51D0-44CB-B3A2-3D40D54B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0EC4BC-5F65-4195-A55D-B83CD669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37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01276-6F1E-40E9-92A0-119665B0309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4937760"/>
          </a:xfrm>
        </p:spPr>
        <p:txBody>
          <a:bodyPr/>
          <a:lstStyle/>
          <a:p>
            <a:r>
              <a:rPr lang="en-US" dirty="0" err="1"/>
              <a:t>list.parallelStream</a:t>
            </a:r>
            <a:r>
              <a:rPr lang="en-US" dirty="0"/>
              <a:t>().</a:t>
            </a:r>
            <a:r>
              <a:rPr lang="en-US" dirty="0" err="1"/>
              <a:t>forEach</a:t>
            </a:r>
            <a:r>
              <a:rPr lang="en-US" dirty="0"/>
              <a:t>(element -&gt; </a:t>
            </a:r>
            <a:r>
              <a:rPr lang="en-US" dirty="0" err="1"/>
              <a:t>doWork</a:t>
            </a:r>
            <a:r>
              <a:rPr lang="en-US" dirty="0"/>
              <a:t>(element));</a:t>
            </a:r>
          </a:p>
          <a:p>
            <a:pPr rtl="1">
              <a:buFont typeface="Wingdings 3" panose="05040102010807070707" pitchFamily="18" charset="2"/>
              <a:buChar char=""/>
            </a:pPr>
            <a:endParaRPr lang="he-IL" dirty="0"/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כברירת מחדל, משתמש ב-threads בהתאם למספר הליבות.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998463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4EBD-3F11-443F-8FE8-40D3EB954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חומר למחשבה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B534F4-8977-4104-BB66-407BF071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6E2A0B92-B6BE-468B-BC74-D22249934D7B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32EE3-8D29-48B1-8CDF-1308B5EC8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DDBB8-4933-403D-A29F-F4A01549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38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FA087-47DA-4C93-ABF1-0489EC2EF98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86800" cy="4937760"/>
          </a:xfrm>
        </p:spPr>
        <p:txBody>
          <a:bodyPr>
            <a:normAutofit/>
          </a:bodyPr>
          <a:lstStyle/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יש לכם רשימת ספרים. כל ספר מהווה רשימת מילים. </a:t>
            </a:r>
          </a:p>
          <a:p>
            <a:pPr algn="r" rtl="1">
              <a:buFont typeface="Wingdings 3" panose="05040102010807070707" pitchFamily="18" charset="2"/>
              <a:buChar char=""/>
            </a:pPr>
            <a:r>
              <a:rPr lang="he-IL" dirty="0">
                <a:latin typeface="Arial"/>
                <a:cs typeface="Arial"/>
              </a:rPr>
              <a:t>נרצה לקבל היסטוגרמה של מופעי מילים</a:t>
            </a:r>
          </a:p>
          <a:p>
            <a:pPr rtl="1"/>
            <a:endParaRPr lang="he-IL" dirty="0"/>
          </a:p>
          <a:p>
            <a:pPr marL="0" indent="0">
              <a:buNone/>
            </a:pPr>
            <a:r>
              <a:rPr lang="en-US" sz="2300" dirty="0"/>
              <a:t>List&lt;String&gt; book1 = </a:t>
            </a:r>
            <a:r>
              <a:rPr lang="en-US" sz="2300" dirty="0" err="1"/>
              <a:t>Arrays.</a:t>
            </a:r>
            <a:r>
              <a:rPr lang="en-US" sz="2300" i="1" dirty="0" err="1"/>
              <a:t>asList</a:t>
            </a:r>
            <a:r>
              <a:rPr lang="en-US" sz="2300" i="1" dirty="0"/>
              <a:t>("Big", "Dog", "Little", "dog");</a:t>
            </a:r>
          </a:p>
          <a:p>
            <a:pPr marL="0" indent="0">
              <a:buNone/>
            </a:pPr>
            <a:r>
              <a:rPr lang="en-US" sz="2300" dirty="0"/>
              <a:t>List&lt;String&gt; book2 = </a:t>
            </a:r>
            <a:r>
              <a:rPr lang="en-US" sz="2300" dirty="0" err="1"/>
              <a:t>Arrays.</a:t>
            </a:r>
            <a:r>
              <a:rPr lang="en-US" sz="2300" i="1" dirty="0" err="1"/>
              <a:t>asList</a:t>
            </a:r>
            <a:r>
              <a:rPr lang="en-US" sz="2300" i="1" dirty="0"/>
              <a:t>("The", "big", "bang", "theory");</a:t>
            </a:r>
          </a:p>
          <a:p>
            <a:pPr marL="0" indent="0">
              <a:buNone/>
            </a:pPr>
            <a:r>
              <a:rPr lang="en-US" sz="2300" dirty="0"/>
              <a:t>List&lt;String&gt; book3 = </a:t>
            </a:r>
            <a:r>
              <a:rPr lang="en-US" sz="2300" dirty="0" err="1"/>
              <a:t>Arrays.</a:t>
            </a:r>
            <a:r>
              <a:rPr lang="en-US" sz="2300" i="1" dirty="0" err="1"/>
              <a:t>asList</a:t>
            </a:r>
            <a:r>
              <a:rPr lang="en-US" sz="2300" i="1" dirty="0"/>
              <a:t>("Chitty", "chitty", "bang", "bang");</a:t>
            </a:r>
          </a:p>
          <a:p>
            <a:pPr marL="0" indent="0">
              <a:buNone/>
            </a:pPr>
            <a:endParaRPr lang="he-IL" sz="2300" dirty="0"/>
          </a:p>
          <a:p>
            <a:pPr marL="0" indent="0">
              <a:buNone/>
            </a:pPr>
            <a:r>
              <a:rPr lang="en-US" sz="2300" dirty="0"/>
              <a:t>List&lt;List&lt;String&gt;&gt; books = </a:t>
            </a:r>
            <a:r>
              <a:rPr lang="en-US" sz="2300" dirty="0" err="1"/>
              <a:t>Arrays.</a:t>
            </a:r>
            <a:r>
              <a:rPr lang="en-US" sz="2300" i="1" dirty="0" err="1"/>
              <a:t>asList</a:t>
            </a:r>
            <a:r>
              <a:rPr lang="en-US" sz="2300" i="1" dirty="0"/>
              <a:t>(book1, book2, book3);</a:t>
            </a:r>
          </a:p>
          <a:p>
            <a:pPr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967250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DA54-9AC3-4C18-98CD-ED1A8205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תשובה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7EF3B-EDD4-4D48-A8A2-F88C0923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8A781935-79B1-4CA3-8DE9-107D5A4DD392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A07C7-F7D0-4A8D-A3E4-B60E6B5D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FB36E-48A7-4506-9CE9-155145D1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39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08429-AEC5-4BCE-AC12-D5738F5C32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Map&lt;String, Integer&gt; </a:t>
            </a:r>
            <a:r>
              <a:rPr lang="en-US" dirty="0" err="1"/>
              <a:t>wordsHistorgram</a:t>
            </a:r>
            <a:r>
              <a:rPr lang="en-US" dirty="0"/>
              <a:t> = </a:t>
            </a:r>
            <a:r>
              <a:rPr lang="en-US" dirty="0" err="1"/>
              <a:t>books.stream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flatMap</a:t>
            </a:r>
            <a:r>
              <a:rPr lang="en-US" dirty="0"/>
              <a:t>(b-&gt;</a:t>
            </a:r>
            <a:r>
              <a:rPr lang="en-US" dirty="0" err="1"/>
              <a:t>b.stream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.map(s -&gt; </a:t>
            </a:r>
            <a:r>
              <a:rPr lang="en-US" dirty="0" err="1"/>
              <a:t>s.toLowerCase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i="1" dirty="0" err="1"/>
              <a:t>groupingBy</a:t>
            </a:r>
            <a:r>
              <a:rPr lang="en-US" i="1" dirty="0"/>
              <a:t>(identity()))</a:t>
            </a:r>
          </a:p>
          <a:p>
            <a:pPr marL="0" indent="0">
              <a:buNone/>
            </a:pPr>
            <a:r>
              <a:rPr lang="en-US" dirty="0"/>
              <a:t>.</a:t>
            </a:r>
            <a:r>
              <a:rPr lang="en-US" dirty="0" err="1"/>
              <a:t>entrySet</a:t>
            </a:r>
            <a:r>
              <a:rPr lang="en-US" dirty="0"/>
              <a:t>().stream()</a:t>
            </a:r>
          </a:p>
          <a:p>
            <a:pPr marL="0" indent="0">
              <a:buNone/>
            </a:pPr>
            <a:r>
              <a:rPr lang="en-US" dirty="0"/>
              <a:t>.collect(</a:t>
            </a:r>
            <a:r>
              <a:rPr lang="en-US" i="1" dirty="0" err="1"/>
              <a:t>toMap</a:t>
            </a:r>
            <a:r>
              <a:rPr lang="en-US" i="1" dirty="0"/>
              <a:t>(e-&gt;</a:t>
            </a:r>
            <a:r>
              <a:rPr lang="en-US" i="1" dirty="0" err="1"/>
              <a:t>e.getKey</a:t>
            </a:r>
            <a:r>
              <a:rPr lang="en-US" i="1" dirty="0"/>
              <a:t>(), e -&gt; </a:t>
            </a:r>
            <a:r>
              <a:rPr lang="en-US" i="1" dirty="0" err="1"/>
              <a:t>e.getValue</a:t>
            </a:r>
            <a:r>
              <a:rPr lang="en-US" i="1" dirty="0"/>
              <a:t>().size())));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728547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15B2-2111-4EA3-A7F1-06085539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>
                <a:latin typeface="Arial"/>
                <a:cs typeface="Arial"/>
              </a:rPr>
              <a:t>למידע נוסף</a:t>
            </a:r>
            <a:endParaRPr lang="he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36AE3-7143-4606-BF75-A9D2C976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/>
            <a:fld id="{110CBB08-81FD-47DC-AE4B-833E71FC9322}" type="datetime12">
              <a:rPr lang="he-IL" smtClean="0"/>
              <a:t>19/04/2026 10:25</a:t>
            </a:fld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7719D-5514-4B69-B13C-60BD0D74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/>
            <a:r>
              <a:rPr lang="he-IL" b="1">
                <a:latin typeface="Arial"/>
                <a:cs typeface="Arial"/>
              </a:rPr>
              <a:t>עיצוב ותכנות מונחי עצמים מתקדם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8CF45-60E6-441E-A3ED-1BF2FAD1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eaLnBrk="1" latinLnBrk="0" hangingPunct="1"/>
            <a:fld id="{EA7C8D44-3667-46F6-9772-CC52308E2A7F}" type="slidenum">
              <a:rPr kumimoji="0" lang="en-US" smtClean="0"/>
              <a:pPr rtl="1" eaLnBrk="1" latinLnBrk="0" hangingPunct="1"/>
              <a:t>40</a:t>
            </a:fld>
            <a:endParaRPr kumimoji="0" lang="he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E805D-2AB2-4438-9A6A-14AF03338D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he-IL" dirty="0">
                <a:latin typeface="Arial"/>
                <a:cs typeface="Arial"/>
                <a:hlinkClick r:id="rId2"/>
              </a:rPr>
              <a:t>https://www.baeldung.com/java-8-functional-interfaces</a:t>
            </a:r>
            <a:endParaRPr lang="he-IL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he-IL" dirty="0">
                <a:latin typeface="Arial"/>
                <a:cs typeface="Arial"/>
                <a:hlinkClick r:id="rId3"/>
              </a:rPr>
              <a:t>https://www.baeldung.com/java-8-sort-lambda</a:t>
            </a:r>
            <a:endParaRPr lang="he-IL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he-IL" dirty="0">
                <a:latin typeface="Arial"/>
                <a:cs typeface="Arial"/>
                <a:hlinkClick r:id="rId4"/>
              </a:rPr>
              <a:t>https://www.baeldung.com/java-8-streams</a:t>
            </a:r>
            <a:endParaRPr lang="he-IL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he-IL" dirty="0">
                <a:latin typeface="Arial"/>
                <a:cs typeface="Arial"/>
                <a:hlinkClick r:id="rId5"/>
              </a:rPr>
              <a:t>https://www.baeldung.com/java-8-collectors</a:t>
            </a:r>
            <a:endParaRPr lang="he-IL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he-IL" dirty="0">
                <a:latin typeface="Arial"/>
                <a:cs typeface="Arial"/>
                <a:hlinkClick r:id="rId6"/>
              </a:rPr>
              <a:t>https://www.baeldung.com/java-groupingby-collector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89732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חון לב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מקור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קור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מחון לב 2</Template>
  <TotalTime>63231</TotalTime>
  <Words>2865</Words>
  <Application>Microsoft Office PowerPoint</Application>
  <PresentationFormat>On-screen Show (4:3)</PresentationFormat>
  <Paragraphs>484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Cambria Math</vt:lpstr>
      <vt:lpstr>David</vt:lpstr>
      <vt:lpstr>Arial</vt:lpstr>
      <vt:lpstr>Bookman Old Style</vt:lpstr>
      <vt:lpstr>Consolas</vt:lpstr>
      <vt:lpstr>Wingdings 3</vt:lpstr>
      <vt:lpstr>Tahoma</vt:lpstr>
      <vt:lpstr>Calibri</vt:lpstr>
      <vt:lpstr>Gill Sans MT</vt:lpstr>
      <vt:lpstr>Wingdings</vt:lpstr>
      <vt:lpstr>Times New Roman</vt:lpstr>
      <vt:lpstr>מחון לב 2</vt:lpstr>
      <vt:lpstr>עיצוב ותִכנוּת מונחי עצמים להנדסה מספר קורס: 157109 </vt:lpstr>
      <vt:lpstr>נושאים</vt:lpstr>
      <vt:lpstr>ביטויי Lambda</vt:lpstr>
      <vt:lpstr>מוטיבציה</vt:lpstr>
      <vt:lpstr>הגדרת Lambda: תחביר</vt:lpstr>
      <vt:lpstr>הגדרת Lambda: דוגמאות</vt:lpstr>
      <vt:lpstr>Predicate</vt:lpstr>
      <vt:lpstr>Function</vt:lpstr>
      <vt:lpstr>Consumer, Supplier and Runnable</vt:lpstr>
      <vt:lpstr>BiFunction</vt:lpstr>
      <vt:lpstr>שימוש בפונקציה מוגדרת (Method reference)</vt:lpstr>
      <vt:lpstr>סוגים של method reference</vt:lpstr>
      <vt:lpstr>שימוש ב lambda כתחליף למימוש של ממשק</vt:lpstr>
      <vt:lpstr>דוגמא: שימוש ב lambda בתבנית עיצוב Adapter</vt:lpstr>
      <vt:lpstr>שימוש בתבנית Adapter לפני Java 8</vt:lpstr>
      <vt:lpstr>שימוש בתבנית Adapter לאחר Java 8</vt:lpstr>
      <vt:lpstr>Streams</vt:lpstr>
      <vt:lpstr>מוטיבציה</vt:lpstr>
      <vt:lpstr>STREAMS</vt:lpstr>
      <vt:lpstr>דוגמא: עובדים יקרים</vt:lpstr>
      <vt:lpstr>שלבי הפתרון</vt:lpstr>
      <vt:lpstr>פתרון</vt:lpstr>
      <vt:lpstr>מקורות Stream</vt:lpstr>
      <vt:lpstr>פעולות סופיות פשוטות</vt:lpstr>
      <vt:lpstr>פעולות סופיות עם פרידקטים</vt:lpstr>
      <vt:lpstr>פעולות סופיות עם Comparator</vt:lpstr>
      <vt:lpstr>Reduce function</vt:lpstr>
      <vt:lpstr>הגדרה של Reduce</vt:lpstr>
      <vt:lpstr>Collectors</vt:lpstr>
      <vt:lpstr>Collectors.toMap()</vt:lpstr>
      <vt:lpstr>groupingBy, partitioningBy</vt:lpstr>
      <vt:lpstr>פעולות ביניים</vt:lpstr>
      <vt:lpstr>פעולות פשוטות על Streams</vt:lpstr>
      <vt:lpstr>filter: פעולת ביניים עם פרדיקט</vt:lpstr>
      <vt:lpstr>map: המרת אברי ה Stream</vt:lpstr>
      <vt:lpstr>flatMap</vt:lpstr>
      <vt:lpstr>מחשוב מקבילי באמצעות Streams</vt:lpstr>
      <vt:lpstr>חומר למחשבה</vt:lpstr>
      <vt:lpstr>תשובה</vt:lpstr>
      <vt:lpstr>למידע נוסף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ניתוח מערכות ממוחשבות</dc:title>
  <dc:creator>cherniak</dc:creator>
  <cp:lastModifiedBy>שחר גולן</cp:lastModifiedBy>
  <cp:revision>370</cp:revision>
  <cp:lastPrinted>2016-11-16T21:16:52Z</cp:lastPrinted>
  <dcterms:created xsi:type="dcterms:W3CDTF">2015-02-15T18:04:03Z</dcterms:created>
  <dcterms:modified xsi:type="dcterms:W3CDTF">2026-04-19T07:30:17Z</dcterms:modified>
</cp:coreProperties>
</file>